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5" r:id="rId3"/>
    <p:sldId id="324" r:id="rId4"/>
    <p:sldId id="325" r:id="rId5"/>
    <p:sldId id="322" r:id="rId6"/>
    <p:sldId id="326" r:id="rId7"/>
    <p:sldId id="284" r:id="rId8"/>
    <p:sldId id="316" r:id="rId9"/>
    <p:sldId id="315" r:id="rId10"/>
    <p:sldId id="317" r:id="rId11"/>
    <p:sldId id="319" r:id="rId12"/>
    <p:sldId id="327" r:id="rId13"/>
    <p:sldId id="320" r:id="rId14"/>
    <p:sldId id="263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864" y="108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microsoft.com/office/2018/10/relationships/authors" Target="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2000" baseline="0"/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2000" dirty="0">
              <a:latin typeface="Golos Text" panose="020B0503020202020204"/>
            </a:endParaRP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8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7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2400" dirty="0">
              <a:latin typeface="Golos Text" panose="020B0503020202020204"/>
            </a:endParaRP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20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  <a:endParaRPr lang="ru-RU" dirty="0"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7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7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 panose="020B0704020202020204"/>
              </a:rPr>
              <a:t>Особенности проектирования
хладоцентра для центра обработки данных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6217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704020202020204"/>
              </a:rPr>
              <a:t>Терновой Радослав Руславнович
Руководитель: Цветков В.А., к.т.н., доцент
Университет ИТМО, 2026</a:t>
            </a:r>
            <a:endParaRPr sz="1300" b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704020202020204"/>
              </a:rPr>
              <a:t>Актуальность: охлаждение — главный резерв снижения PUE и OPEX</a:t>
            </a:r>
            <a:endParaRPr lang="ru-RU"/>
          </a:p>
        </p:txBody>
      </p:sp>
      <p:pic>
        <p:nvPicPr>
          <p:cNvPr id="6" name="Picture 5" descr="s02_mach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113" y="1233715"/>
            <a:ext cx="7170057" cy="3410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28032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650">
                <a:solidFill>
                  <a:srgbClr val="50505A"/>
                </a:solidFill>
                <a:latin typeface="Arial" panose="020B0704020202020204"/>
              </a:rPr>
              <a:t>ВКР Терновой Р.Р. | Университет ИТМО | 02/13</a:t>
            </a:r>
            <a:endParaRPr sz="650">
              <a:solidFill>
                <a:srgbClr val="50505A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704020202020204"/>
              </a:rPr>
              <a:t>Цель и задачи исследования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457200" y="4828032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650">
                <a:solidFill>
                  <a:srgbClr val="50505A"/>
                </a:solidFill>
                <a:latin typeface="Arial" panose="020B0704020202020204"/>
              </a:rPr>
              <a:t>ВКР Терновой Р.Р. | Университет ИТМО | 03/13</a:t>
            </a:r>
            <a:endParaRPr sz="650">
              <a:solidFill>
                <a:srgbClr val="50505A"/>
              </a:solidFill>
              <a:latin typeface="Arial" panose="020B07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932688"/>
            <a:ext cx="4608576" cy="3840480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65961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5B2D82"/>
                </a:solidFill>
                <a:latin typeface="Arial" panose="020B0704020202020204"/>
              </a:rPr>
              <a:t>1 200 кВт</a:t>
            </a:r>
            <a:endParaRPr sz="3800" b="1">
              <a:solidFill>
                <a:srgbClr val="5B2D82"/>
              </a:solidFill>
              <a:latin typeface="Arial" panose="020B07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002663"/>
            <a:ext cx="42793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21152F"/>
                </a:solidFill>
                <a:latin typeface="Arial" panose="020B0704020202020204"/>
              </a:rPr>
              <a:t>Цель</a:t>
            </a:r>
            <a:endParaRPr sz="24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1728216"/>
            <a:ext cx="4224528" cy="2971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D5870"/>
                </a:solidFill>
                <a:latin typeface="Arial" panose="020B0704020202020204"/>
              </a:rPr>
              <a:t>обосновать проектные решения хладоцентра ЦОД с минимизацией энергопотребления за счет гибридной схемы и фрикулинга</a:t>
            </a:r>
            <a:endParaRPr sz="190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78145" y="1186815"/>
            <a:ext cx="2537460" cy="87884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50865" y="1458468"/>
            <a:ext cx="237744" cy="237744"/>
          </a:xfrm>
          <a:prstGeom prst="ellipse">
            <a:avLst/>
          </a:prstGeom>
          <a:solidFill>
            <a:srgbClr val="5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50865" y="14660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1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36208" y="1355217"/>
            <a:ext cx="15361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Анализ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80963" y="1649095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современные схемы охлаждения ЦОД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513070" y="2157730"/>
            <a:ext cx="2491105" cy="69469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06110" y="2360041"/>
            <a:ext cx="237744" cy="23774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06110" y="235051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2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36208" y="2199640"/>
            <a:ext cx="15361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Климат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80963" y="2525268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потенциал фрикулинга Санкт-Петербурга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501005" y="2999105"/>
            <a:ext cx="2514600" cy="694690"/>
          </a:xfrm>
          <a:prstGeom prst="roundRect">
            <a:avLst>
              <a:gd name="adj" fmla="val 10038"/>
            </a:avLst>
          </a:prstGeom>
          <a:solidFill>
            <a:srgbClr val="F7F5FB"/>
          </a:solidFill>
          <a:ln w="1524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06110" y="3235578"/>
            <a:ext cx="237744" cy="237744"/>
          </a:xfrm>
          <a:prstGeom prst="ellipse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06110" y="323557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3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36208" y="3105023"/>
            <a:ext cx="15361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Методика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80963" y="3401440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подбор оборудования и расчет PUE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501005" y="3840480"/>
            <a:ext cx="2527935" cy="702945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06110" y="4059047"/>
            <a:ext cx="237744" cy="237744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06110" y="4067937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4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36208" y="3959606"/>
            <a:ext cx="15361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ТЭО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80963" y="4251579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CAPEX, OPEX, окупаемость и NPV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704020202020204"/>
              </a:rPr>
              <a:t>Объект, предмет и научная новизна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Picture 8" descr="s04_pulkov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3770" y="3011170"/>
            <a:ext cx="4081145" cy="18091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28032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650">
                <a:solidFill>
                  <a:srgbClr val="50505A"/>
                </a:solidFill>
                <a:latin typeface="Arial" panose="020B0704020202020204"/>
              </a:rPr>
              <a:t>ВКР Терновой Р.Р. | Университет ИТМО | 04/13</a:t>
            </a:r>
            <a:endParaRPr sz="650">
              <a:solidFill>
                <a:srgbClr val="50505A"/>
              </a:solidFill>
              <a:latin typeface="Arial" panose="020B07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12064" y="1792224"/>
            <a:ext cx="3639312" cy="1572768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1792224"/>
            <a:ext cx="91440" cy="1572768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1901952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1152F"/>
                </a:solidFill>
                <a:latin typeface="Arial" panose="020B0704020202020204"/>
              </a:rPr>
              <a:t>Объект и предмет</a:t>
            </a:r>
            <a:endParaRPr sz="15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0664" y="2194560"/>
            <a:ext cx="3255264" cy="10972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5870"/>
                </a:solidFill>
                <a:latin typeface="Arial" panose="020B0704020202020204"/>
              </a:rPr>
              <a:t>система холодоснабжения ЦОД; процессы теплообмена, энергоэффективность и режимы работы оборудования хладоцентра</a:t>
            </a:r>
            <a:endParaRPr sz="105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2064" y="1014984"/>
            <a:ext cx="3621024" cy="758952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FF3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1014984"/>
            <a:ext cx="91440" cy="758952"/>
          </a:xfrm>
          <a:prstGeom prst="rect">
            <a:avLst/>
          </a:prstGeom>
          <a:solidFill>
            <a:srgbClr val="FF3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112471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1152F"/>
                </a:solidFill>
                <a:latin typeface="Arial" panose="020B0704020202020204"/>
              </a:rPr>
              <a:t>Новизна</a:t>
            </a:r>
            <a:endParaRPr sz="105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0664" y="1417320"/>
            <a:ext cx="32369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5D5870"/>
                </a:solidFill>
                <a:latin typeface="Arial" panose="020B0704020202020204"/>
              </a:rPr>
              <a:t>единый расчетный контур: климатические бины, тепловая нагрузка, часы фрикулинга, PUE и экономика</a:t>
            </a:r>
            <a:endParaRPr sz="68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64024" y="2157984"/>
            <a:ext cx="4078224" cy="868680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64024" y="2157984"/>
            <a:ext cx="91440" cy="8686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2267712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1152F"/>
                </a:solidFill>
                <a:latin typeface="Arial" panose="020B0704020202020204"/>
              </a:rPr>
              <a:t>Климатическая база</a:t>
            </a:r>
            <a:endParaRPr sz="115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92624" y="2560320"/>
            <a:ext cx="3694176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5D5870"/>
                </a:solidFill>
                <a:latin typeface="Arial" panose="020B0704020202020204"/>
              </a:rPr>
              <a:t>Санкт-Петербург, Пулково, СП 131.13330.2020; расчет часов фрикулинга через температурные бины</a:t>
            </a:r>
            <a:endParaRPr sz="72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6720840" cy="7498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2700" b="1">
                <a:solidFill>
                  <a:srgbClr val="221733"/>
                </a:solidFill>
                <a:latin typeface="Arial" panose="020B0704020202020204"/>
              </a:defRPr>
            </a:pPr>
            <a:r>
              <a:t>Современные подходы к охлаждению ЦОД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258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r">
              <a:defRPr sz="2800" b="1">
                <a:solidFill>
                  <a:srgbClr val="111111"/>
                </a:solidFill>
                <a:latin typeface="Arial" panose="020B0704020202020204"/>
              </a:defRPr>
            </a:pPr>
            <a:r>
              <a:t>ИТМО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3657600" cy="137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650" b="0">
                <a:solidFill>
                  <a:srgbClr val="555555"/>
                </a:solidFill>
                <a:latin typeface="Arial" panose="020B0704020202020204"/>
              </a:defRPr>
            </a:pPr>
            <a:r>
              <a:t>ВКР Терновой Р.Р. | Университет ИТМО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2514600" cy="758952"/>
          </a:xfrm>
          <a:prstGeom prst="roundRect">
            <a:avLst/>
          </a:prstGeom>
          <a:solidFill>
            <a:srgbClr val="F7F3FB"/>
          </a:solidFill>
          <a:ln w="19050">
            <a:solidFill>
              <a:srgbClr val="00A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68580" cy="758952"/>
          </a:xfrm>
          <a:prstGeom prst="rect">
            <a:avLst/>
          </a:prstGeom>
          <a:solidFill>
            <a:srgbClr val="00A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152144"/>
            <a:ext cx="228600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400" b="1">
                <a:solidFill>
                  <a:srgbClr val="221733"/>
                </a:solidFill>
                <a:latin typeface="Arial" panose="020B0704020202020204"/>
              </a:defRPr>
            </a:pPr>
            <a:r>
              <a:t>1. Воздушное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435607"/>
            <a:ext cx="2286000" cy="37490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930" b="0">
                <a:solidFill>
                  <a:srgbClr val="5A5268"/>
                </a:solidFill>
                <a:latin typeface="Arial" panose="020B0704020202020204"/>
              </a:defRPr>
            </a:pPr>
            <a:r>
              <a:t>CRAH/CRAC; холодные и горячие коридоры.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078992"/>
            <a:ext cx="2514600" cy="758952"/>
          </a:xfrm>
          <a:prstGeom prst="roundRect">
            <a:avLst/>
          </a:prstGeom>
          <a:solidFill>
            <a:srgbClr val="F7F3FB"/>
          </a:solidFill>
          <a:ln w="1905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078992"/>
            <a:ext cx="68580" cy="758952"/>
          </a:xfrm>
          <a:prstGeom prst="rect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152144"/>
            <a:ext cx="228600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400" b="1">
                <a:solidFill>
                  <a:srgbClr val="221733"/>
                </a:solidFill>
                <a:latin typeface="Arial" panose="020B0704020202020204"/>
              </a:defRPr>
            </a:pPr>
            <a:r>
              <a:t>2. Водяной фрикулинг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435607"/>
            <a:ext cx="2286000" cy="37490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930" b="0">
                <a:solidFill>
                  <a:srgbClr val="5A5268"/>
                </a:solidFill>
                <a:latin typeface="Arial" panose="020B0704020202020204"/>
              </a:defRPr>
            </a:pPr>
            <a:r>
              <a:t>Драйкулер + ПТО: меньше работы компрессоров.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78992"/>
            <a:ext cx="2331720" cy="758952"/>
          </a:xfrm>
          <a:prstGeom prst="roundRect">
            <a:avLst/>
          </a:prstGeom>
          <a:solidFill>
            <a:srgbClr val="F7F3FB"/>
          </a:solidFill>
          <a:ln w="19050">
            <a:solidFill>
              <a:srgbClr val="F23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078992"/>
            <a:ext cx="68580" cy="758952"/>
          </a:xfrm>
          <a:prstGeom prst="rect">
            <a:avLst/>
          </a:prstGeom>
          <a:solidFill>
            <a:srgbClr val="F23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152144"/>
            <a:ext cx="210312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400" b="1">
                <a:solidFill>
                  <a:srgbClr val="221733"/>
                </a:solidFill>
                <a:latin typeface="Arial" panose="020B0704020202020204"/>
              </a:defRPr>
            </a:pPr>
            <a:r>
              <a:t>3. Жидкостные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1435607"/>
            <a:ext cx="2103120" cy="37490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930" b="0">
                <a:solidFill>
                  <a:srgbClr val="5A5268"/>
                </a:solidFill>
                <a:latin typeface="Arial" panose="020B0704020202020204"/>
              </a:defRPr>
            </a:pPr>
            <a:r>
              <a:t>Rear-door / direct-to-chip для высокоплотных стоек.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148840"/>
            <a:ext cx="379476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33472"/>
            <a:ext cx="3063240" cy="1097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960120" y="2286000"/>
            <a:ext cx="3063240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>
              <a:defRPr sz="1050" b="1">
                <a:solidFill>
                  <a:srgbClr val="FF3B30"/>
                </a:solidFill>
                <a:latin typeface="Arial" panose="020B0704020202020204"/>
              </a:defRPr>
            </a:pPr>
            <a:r>
              <a:t>Гибридный контур: чиллер + фрикулинг через ПТО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2148840"/>
            <a:ext cx="379476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578608"/>
            <a:ext cx="2697480" cy="141732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230368" y="2286000"/>
            <a:ext cx="2743200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>
              <a:defRPr sz="1080" b="1">
                <a:solidFill>
                  <a:srgbClr val="5B2A86"/>
                </a:solidFill>
                <a:latin typeface="Arial" panose="020B0704020202020204"/>
              </a:defRPr>
            </a:pPr>
            <a:r>
              <a:t>Схема хладоцентра: ПТО + CRAH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21152F"/>
                </a:solidFill>
                <a:latin typeface="Arial" panose="020B0704020202020204"/>
              </a:rPr>
              <a:t>Климат Санкт-Петербурга дает 5 502 часа фрикулинга в год при MCT = 10°C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/>
        </p:txBody>
      </p:sp>
      <p:pic>
        <p:nvPicPr>
          <p:cNvPr id="4" name="Picture 3" descr="s06_climate_com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1943"/>
            <a:ext cx="7467600" cy="3447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28032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650">
                <a:solidFill>
                  <a:srgbClr val="50505A"/>
                </a:solidFill>
                <a:latin typeface="Arial" panose="020B0704020202020204"/>
              </a:rPr>
              <a:t>ВКР Терновой Р.Р. | Университет ИТМО | 06/13</a:t>
            </a:r>
            <a:endParaRPr sz="650">
              <a:solidFill>
                <a:srgbClr val="50505A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6720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21152F"/>
                </a:solidFill>
                <a:latin typeface="Arial" panose="020B0704020202020204"/>
              </a:rPr>
              <a:t>Методика расчета: потенциал</a:t>
            </a:r>
            <a:endParaRPr sz="2400" b="1">
              <a:solidFill>
                <a:srgbClr val="21152F"/>
              </a:solidFill>
              <a:latin typeface="Arial" panose="020B0704020202020204"/>
            </a:endParaRP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21152F"/>
                </a:solidFill>
                <a:latin typeface="Arial" panose="020B0704020202020204"/>
              </a:rPr>
              <a:t>фрикулинга зависит от порога MCT</a:t>
            </a:r>
            <a:endParaRPr sz="24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078992"/>
            <a:ext cx="598932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045" y="1261872"/>
            <a:ext cx="4940212" cy="28072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0840" y="1325880"/>
            <a:ext cx="1554480" cy="804672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20840" y="1325880"/>
            <a:ext cx="64008" cy="804672"/>
          </a:xfrm>
          <a:prstGeom prst="rect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380744"/>
            <a:ext cx="13533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A676"/>
                </a:solidFill>
                <a:latin typeface="Arial" panose="020B0704020202020204"/>
              </a:rPr>
              <a:t>5 502 ч</a:t>
            </a:r>
            <a:endParaRPr sz="1700" b="1">
              <a:solidFill>
                <a:srgbClr val="00A676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1609344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D5870"/>
                </a:solidFill>
                <a:latin typeface="Arial" panose="020B0704020202020204"/>
              </a:rPr>
              <a:t>MCT = 10°C, рекомендуемая Схема 2</a:t>
            </a:r>
            <a:endParaRPr sz="85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720840" y="2331720"/>
            <a:ext cx="1554480" cy="804672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FF3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2331720"/>
            <a:ext cx="64008" cy="804672"/>
          </a:xfrm>
          <a:prstGeom prst="rect">
            <a:avLst/>
          </a:prstGeom>
          <a:solidFill>
            <a:srgbClr val="FF3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386584"/>
            <a:ext cx="13533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3F8E"/>
                </a:solidFill>
                <a:latin typeface="Arial" panose="020B0704020202020204"/>
              </a:rPr>
              <a:t>5 994 ч</a:t>
            </a:r>
            <a:endParaRPr sz="1700" b="1">
              <a:solidFill>
                <a:srgbClr val="FF3F8E"/>
              </a:solidFill>
              <a:latin typeface="Arial" panose="020B07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0" y="2615184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D5870"/>
                </a:solidFill>
                <a:latin typeface="Arial" panose="020B0704020202020204"/>
              </a:rPr>
              <a:t>MCT = 12°C, Схема 3 с ТАХ</a:t>
            </a:r>
            <a:endParaRPr sz="85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20840" y="3337560"/>
            <a:ext cx="1554480" cy="804672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3337560"/>
            <a:ext cx="64008" cy="8046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392424"/>
            <a:ext cx="13533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AEEF"/>
                </a:solidFill>
                <a:latin typeface="Arial" panose="020B0704020202020204"/>
              </a:rPr>
              <a:t>+492 ч</a:t>
            </a:r>
            <a:endParaRPr sz="1600" b="1">
              <a:solidFill>
                <a:srgbClr val="00AEEF"/>
              </a:solidFill>
              <a:latin typeface="Arial" panose="020B07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3621024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5870"/>
                </a:solidFill>
                <a:latin typeface="Arial" panose="020B0704020202020204"/>
              </a:rPr>
              <a:t>дополнительный фрикулинг при усложнении схемы</a:t>
            </a:r>
            <a:endParaRPr sz="80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4828032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650">
                <a:solidFill>
                  <a:srgbClr val="50505A"/>
                </a:solidFill>
                <a:latin typeface="Arial" panose="020B0704020202020204"/>
              </a:rPr>
              <a:t>ВКР Терновой Р.Р. | Университет ИТМО | 07/13</a:t>
            </a:r>
            <a:endParaRPr sz="650">
              <a:solidFill>
                <a:srgbClr val="50505A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6720840" cy="7498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2700" b="1">
                <a:solidFill>
                  <a:srgbClr val="221733"/>
                </a:solidFill>
                <a:latin typeface="Arial" panose="020B0704020202020204"/>
              </a:defRPr>
            </a:pPr>
            <a:r>
              <a:t>Три сравниваемые схемы хладоцентра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258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r">
              <a:defRPr sz="2800" b="1">
                <a:solidFill>
                  <a:srgbClr val="111111"/>
                </a:solidFill>
                <a:latin typeface="Arial" panose="020B0704020202020204"/>
              </a:defRPr>
            </a:pPr>
            <a:r>
              <a:t>ИТМО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3657600" cy="137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650" b="0">
                <a:solidFill>
                  <a:srgbClr val="555555"/>
                </a:solidFill>
                <a:latin typeface="Arial" panose="020B0704020202020204"/>
              </a:defRPr>
            </a:pPr>
            <a:r>
              <a:t>ВКР Терновой Р.Р. | Университет ИТМО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2240280" cy="749808"/>
          </a:xfrm>
          <a:prstGeom prst="roundRect">
            <a:avLst/>
          </a:prstGeom>
          <a:solidFill>
            <a:srgbClr val="F7F3FB"/>
          </a:solidFill>
          <a:ln w="1905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68580" cy="7498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097280"/>
            <a:ext cx="201168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500" b="1">
                <a:solidFill>
                  <a:srgbClr val="221733"/>
                </a:solidFill>
                <a:latin typeface="Arial" panose="020B0704020202020204"/>
              </a:defRPr>
            </a:pPr>
            <a:r>
              <a:t>Схема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380744"/>
            <a:ext cx="2011680" cy="365759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950" b="0">
                <a:solidFill>
                  <a:srgbClr val="5A5268"/>
                </a:solidFill>
                <a:latin typeface="Arial" panose="020B0704020202020204"/>
              </a:defRPr>
            </a:pPr>
            <a:r>
              <a:t>Базовая: чиллер с воздушным конденсатором, без фрикулинга.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240280" cy="749808"/>
          </a:xfrm>
          <a:prstGeom prst="roundRect">
            <a:avLst/>
          </a:prstGeom>
          <a:solidFill>
            <a:srgbClr val="F7F3FB"/>
          </a:solidFill>
          <a:ln w="19050">
            <a:solidFill>
              <a:srgbClr val="00A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68580" cy="749808"/>
          </a:xfrm>
          <a:prstGeom prst="rect">
            <a:avLst/>
          </a:prstGeom>
          <a:solidFill>
            <a:srgbClr val="00A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039112"/>
            <a:ext cx="201168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500" b="1">
                <a:solidFill>
                  <a:srgbClr val="221733"/>
                </a:solidFill>
                <a:latin typeface="Arial" panose="020B0704020202020204"/>
              </a:defRPr>
            </a:pPr>
            <a:r>
              <a:t>Схема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322576"/>
            <a:ext cx="2011680" cy="365759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950" b="0">
                <a:solidFill>
                  <a:srgbClr val="5A5268"/>
                </a:solidFill>
                <a:latin typeface="Arial" panose="020B0704020202020204"/>
              </a:defRPr>
            </a:pPr>
            <a:r>
              <a:t>Рекомендуемая: чиллер + драйкулер + ПТО, MCT = 10 °C.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07792"/>
            <a:ext cx="2240280" cy="749808"/>
          </a:xfrm>
          <a:prstGeom prst="roundRect">
            <a:avLst/>
          </a:prstGeom>
          <a:solidFill>
            <a:srgbClr val="F7F3FB"/>
          </a:solidFill>
          <a:ln w="19050">
            <a:solidFill>
              <a:srgbClr val="F23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07792"/>
            <a:ext cx="68580" cy="749808"/>
          </a:xfrm>
          <a:prstGeom prst="rect">
            <a:avLst/>
          </a:prstGeom>
          <a:solidFill>
            <a:srgbClr val="F23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980944"/>
            <a:ext cx="201168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500" b="1">
                <a:solidFill>
                  <a:srgbClr val="221733"/>
                </a:solidFill>
                <a:latin typeface="Arial" panose="020B0704020202020204"/>
              </a:defRPr>
            </a:pPr>
            <a:r>
              <a:t>Схема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3264408"/>
            <a:ext cx="2011680" cy="365759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950" b="0">
                <a:solidFill>
                  <a:srgbClr val="5A5268"/>
                </a:solidFill>
                <a:latin typeface="Arial" panose="020B0704020202020204"/>
              </a:defRPr>
            </a:pPr>
            <a:r>
              <a:t>Усложнённая: схема 2 + ТАХ, MCT = 12 °C.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1078992"/>
            <a:ext cx="4800600" cy="269748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0A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490472"/>
            <a:ext cx="4069080" cy="19202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675887" y="896112"/>
            <a:ext cx="342900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>
              <a:defRPr sz="1150" b="1">
                <a:solidFill>
                  <a:srgbClr val="00A9D6"/>
                </a:solidFill>
                <a:latin typeface="Arial" panose="020B0704020202020204"/>
              </a:defRPr>
            </a:pPr>
            <a:r>
              <a:t>Схема 2: драйкулерный фрикулинг через ПТО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5848" y="3977639"/>
            <a:ext cx="123444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>
              <a:defRPr sz="1150" b="1">
                <a:solidFill>
                  <a:srgbClr val="00A676"/>
                </a:solidFill>
                <a:latin typeface="Arial" panose="020B0704020202020204"/>
              </a:defRPr>
            </a:pPr>
            <a:r>
              <a:t>5 502 ч/год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6592" y="3977639"/>
            <a:ext cx="123444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>
              <a:defRPr sz="1150" b="1">
                <a:solidFill>
                  <a:srgbClr val="00A676"/>
                </a:solidFill>
                <a:latin typeface="Arial" panose="020B0704020202020204"/>
              </a:defRPr>
            </a:pPr>
            <a:r>
              <a:t>PUE 1,310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7336" y="3977639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>
              <a:defRPr sz="1150" b="1">
                <a:solidFill>
                  <a:srgbClr val="00A676"/>
                </a:solidFill>
                <a:latin typeface="Arial" panose="020B0704020202020204"/>
              </a:defRPr>
            </a:pPr>
            <a:r>
              <a:t>-43,5% охлажд.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6720840" cy="7498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2500" b="1">
                <a:solidFill>
                  <a:srgbClr val="221733"/>
                </a:solidFill>
                <a:latin typeface="Arial" panose="020B0704020202020204"/>
              </a:defRPr>
            </a:pPr>
            <a:r>
              <a:t>Схема 2 снижает потребление охлаждения на 43,5%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258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r">
              <a:defRPr sz="2800" b="1">
                <a:solidFill>
                  <a:srgbClr val="111111"/>
                </a:solidFill>
                <a:latin typeface="Arial" panose="020B0704020202020204"/>
              </a:defRPr>
            </a:pPr>
            <a:r>
              <a:t>ИТМО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3657600" cy="137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650" b="0">
                <a:solidFill>
                  <a:srgbClr val="555555"/>
                </a:solidFill>
                <a:latin typeface="Arial" panose="020B0704020202020204"/>
              </a:defRPr>
            </a:pPr>
            <a:r>
              <a:t>ВКР Терновой Р.Р. | Университет ИТМО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5166360" cy="2761488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216152"/>
            <a:ext cx="4663440" cy="20482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97880" y="1005840"/>
            <a:ext cx="2240280" cy="2761488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1188720"/>
            <a:ext cx="1600200" cy="2560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1500" b="1">
                <a:solidFill>
                  <a:srgbClr val="00A676"/>
                </a:solidFill>
                <a:latin typeface="Arial" panose="020B0704020202020204"/>
              </a:defRPr>
            </a:pPr>
            <a:r>
              <a:t>Годовой PUE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91640"/>
            <a:ext cx="713232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050" b="1">
                <a:solidFill>
                  <a:srgbClr val="221733"/>
                </a:solidFill>
                <a:latin typeface="Arial" panose="020B0704020202020204"/>
              </a:defRPr>
            </a:pPr>
            <a:r>
              <a:t>Схема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9712" y="1700784"/>
            <a:ext cx="685800" cy="182880"/>
          </a:xfrm>
          <a:prstGeom prst="rect">
            <a:avLst/>
          </a:prstGeom>
          <a:solidFill>
            <a:srgbClr val="A9A9A9"/>
          </a:solidFill>
          <a:ln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276856"/>
            <a:ext cx="713232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050" b="1">
                <a:solidFill>
                  <a:srgbClr val="221733"/>
                </a:solidFill>
                <a:latin typeface="Arial" panose="020B0704020202020204"/>
              </a:defRPr>
            </a:pPr>
            <a:r>
              <a:t>Схема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9712" y="2286000"/>
            <a:ext cx="603504" cy="182880"/>
          </a:xfrm>
          <a:prstGeom prst="rect">
            <a:avLst/>
          </a:prstGeom>
          <a:solidFill>
            <a:srgbClr val="5278C6"/>
          </a:solidFill>
          <a:ln>
            <a:solidFill>
              <a:srgbClr val="52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862072"/>
            <a:ext cx="713232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050" b="1">
                <a:solidFill>
                  <a:srgbClr val="221733"/>
                </a:solidFill>
                <a:latin typeface="Arial" panose="020B0704020202020204"/>
              </a:defRPr>
            </a:pPr>
            <a:r>
              <a:t>Схема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9712" y="2871215"/>
            <a:ext cx="594360" cy="182880"/>
          </a:xfrm>
          <a:prstGeom prst="rect">
            <a:avLst/>
          </a:prstGeom>
          <a:solidFill>
            <a:srgbClr val="FF7A45"/>
          </a:solidFill>
          <a:ln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041648"/>
            <a:ext cx="1508760" cy="502920"/>
          </a:xfrm>
          <a:prstGeom prst="roundRect">
            <a:avLst/>
          </a:prstGeom>
          <a:solidFill>
            <a:srgbClr val="F7F3FB"/>
          </a:solidFill>
          <a:ln w="1651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041648"/>
            <a:ext cx="64008" cy="502920"/>
          </a:xfrm>
          <a:prstGeom prst="rect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05656"/>
            <a:ext cx="1307592" cy="2103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500" b="1">
                <a:solidFill>
                  <a:srgbClr val="00A676"/>
                </a:solidFill>
                <a:latin typeface="Arial" panose="020B0704020202020204"/>
              </a:defRPr>
            </a:pPr>
            <a:r>
              <a:t>1,310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52544"/>
            <a:ext cx="1307592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780" b="0">
                <a:solidFill>
                  <a:srgbClr val="5A5268"/>
                </a:solidFill>
                <a:latin typeface="Arial" panose="020B0704020202020204"/>
              </a:defRPr>
            </a:pPr>
            <a:r>
              <a:t>PUE схемы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4041648"/>
            <a:ext cx="1508760" cy="502920"/>
          </a:xfrm>
          <a:prstGeom prst="roundRect">
            <a:avLst/>
          </a:prstGeom>
          <a:solidFill>
            <a:srgbClr val="F7F3FB"/>
          </a:solidFill>
          <a:ln w="16510">
            <a:solidFill>
              <a:srgbClr val="00A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4041648"/>
            <a:ext cx="64008" cy="502920"/>
          </a:xfrm>
          <a:prstGeom prst="rect">
            <a:avLst/>
          </a:prstGeom>
          <a:solidFill>
            <a:srgbClr val="00A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79" y="4105656"/>
            <a:ext cx="1307592" cy="2103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500" b="1">
                <a:solidFill>
                  <a:srgbClr val="00A9D6"/>
                </a:solidFill>
                <a:latin typeface="Arial" panose="020B0704020202020204"/>
              </a:defRPr>
            </a:pPr>
            <a:r>
              <a:t>-43,5%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79" y="4352544"/>
            <a:ext cx="1307592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780" b="0">
                <a:solidFill>
                  <a:srgbClr val="5A5268"/>
                </a:solidFill>
                <a:latin typeface="Arial" panose="020B0704020202020204"/>
              </a:defRPr>
            </a:pPr>
            <a:r>
              <a:t>охлаждение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041648"/>
            <a:ext cx="1508760" cy="502920"/>
          </a:xfrm>
          <a:prstGeom prst="roundRect">
            <a:avLst/>
          </a:prstGeom>
          <a:solidFill>
            <a:srgbClr val="F7F3FB"/>
          </a:solidFill>
          <a:ln w="1651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23360" y="4041648"/>
            <a:ext cx="64008" cy="502920"/>
          </a:xfrm>
          <a:prstGeom prst="rect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4105656"/>
            <a:ext cx="1307592" cy="2103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500" b="1">
                <a:solidFill>
                  <a:srgbClr val="5B2A86"/>
                </a:solidFill>
                <a:latin typeface="Arial" panose="020B0704020202020204"/>
              </a:defRPr>
            </a:pPr>
            <a:r>
              <a:t>-12,3%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4352544"/>
            <a:ext cx="1307592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780" b="0">
                <a:solidFill>
                  <a:srgbClr val="5A5268"/>
                </a:solidFill>
                <a:latin typeface="Arial" panose="020B0704020202020204"/>
              </a:defRPr>
            </a:pPr>
            <a:r>
              <a:t>весь ЦОД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4041648"/>
            <a:ext cx="1508760" cy="502920"/>
          </a:xfrm>
          <a:prstGeom prst="roundRect">
            <a:avLst/>
          </a:prstGeom>
          <a:solidFill>
            <a:srgbClr val="F7F3FB"/>
          </a:solidFill>
          <a:ln w="1651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0" y="4041648"/>
            <a:ext cx="64008" cy="5029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4352544"/>
            <a:ext cx="1307592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780" b="0">
                <a:solidFill>
                  <a:srgbClr val="5A5268"/>
                </a:solidFill>
                <a:latin typeface="Arial" panose="020B0704020202020204"/>
              </a:defRPr>
            </a:pPr>
            <a:r>
              <a:t>PUE схемы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383280"/>
            <a:ext cx="3108960" cy="201168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ctr">
              <a:defRPr sz="1120" b="1">
                <a:solidFill>
                  <a:srgbClr val="5B2A86"/>
                </a:solidFill>
                <a:latin typeface="Arial" panose="020B0704020202020204"/>
              </a:defRPr>
            </a:pPr>
            <a:r>
              <a:t>Помесячное потребление системы охлаждения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1575" y="1700784"/>
            <a:ext cx="566928" cy="201168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l">
              <a:defRPr sz="1080" b="1">
                <a:solidFill>
                  <a:srgbClr val="221733"/>
                </a:solidFill>
                <a:latin typeface="Arial" panose="020B0704020202020204"/>
              </a:defRPr>
            </a:pPr>
            <a:r>
              <a:t>1,494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240280"/>
            <a:ext cx="566928" cy="201168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l">
              <a:defRPr sz="1080" b="1">
                <a:solidFill>
                  <a:srgbClr val="221733"/>
                </a:solidFill>
                <a:latin typeface="Arial" panose="020B0704020202020204"/>
              </a:defRPr>
            </a:pPr>
            <a:r>
              <a:t>1,310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2871216"/>
            <a:ext cx="566928" cy="201168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l">
              <a:defRPr sz="1080" b="1">
                <a:solidFill>
                  <a:srgbClr val="221733"/>
                </a:solidFill>
                <a:latin typeface="Arial" panose="020B0704020202020204"/>
              </a:defRPr>
            </a:pPr>
            <a:r>
              <a:t>1,292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4105656"/>
            <a:ext cx="1097280" cy="2103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1">
                <a:solidFill>
                  <a:srgbClr val="FF7A45"/>
                </a:solidFill>
                <a:latin typeface="Arial" panose="020B0704020202020204"/>
              </a:defRPr>
            </a:pPr>
            <a:r>
              <a:t>1,292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6720840" cy="7498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2500" b="1">
                <a:solidFill>
                  <a:srgbClr val="221733"/>
                </a:solidFill>
                <a:latin typeface="Arial" panose="020B0704020202020204"/>
              </a:defRPr>
            </a:pPr>
            <a:r>
              <a:t>ТЭО: эффект формируется за счет снижения OPEX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258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r">
              <a:defRPr sz="2800" b="1">
                <a:solidFill>
                  <a:srgbClr val="111111"/>
                </a:solidFill>
                <a:latin typeface="Arial" panose="020B0704020202020204"/>
              </a:defRPr>
            </a:pPr>
            <a:r>
              <a:t>ИТМО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3657600" cy="137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650" b="0">
                <a:solidFill>
                  <a:srgbClr val="555555"/>
                </a:solidFill>
                <a:latin typeface="Arial" panose="020B0704020202020204"/>
              </a:defRPr>
            </a:pPr>
            <a:r>
              <a:t>ВКР Терновой Р.Р. | Университет ИТМО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3794760" cy="27889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128522"/>
            <a:ext cx="141732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1450" b="1">
                <a:solidFill>
                  <a:srgbClr val="5B2A86"/>
                </a:solidFill>
                <a:latin typeface="Arial" panose="020B0704020202020204"/>
              </a:defRPr>
            </a:pPr>
            <a:r>
              <a:t>CAPEX, млн руб.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2027224"/>
            <a:ext cx="566928" cy="1218895"/>
          </a:xfrm>
          <a:prstGeom prst="rect">
            <a:avLst/>
          </a:prstGeom>
          <a:solidFill>
            <a:srgbClr val="A9A9A9"/>
          </a:solidFill>
          <a:ln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310128"/>
            <a:ext cx="685800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950" b="0">
                <a:solidFill>
                  <a:srgbClr val="221733"/>
                </a:solidFill>
                <a:latin typeface="Arial" panose="020B0704020202020204"/>
              </a:defRPr>
            </a:pPr>
            <a:r>
              <a:t>Схема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789480"/>
            <a:ext cx="603504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1100" b="1">
                <a:solidFill>
                  <a:srgbClr val="221733"/>
                </a:solidFill>
                <a:latin typeface="Arial" panose="020B0704020202020204"/>
              </a:defRPr>
            </a:pPr>
            <a:r>
              <a:t>77,5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39112" y="1811755"/>
            <a:ext cx="566928" cy="1434364"/>
          </a:xfrm>
          <a:prstGeom prst="rect">
            <a:avLst/>
          </a:prstGeom>
          <a:solidFill>
            <a:srgbClr val="5278C6"/>
          </a:solidFill>
          <a:ln>
            <a:solidFill>
              <a:srgbClr val="52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3310128"/>
            <a:ext cx="685800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950" b="0">
                <a:solidFill>
                  <a:srgbClr val="221733"/>
                </a:solidFill>
                <a:latin typeface="Arial" panose="020B0704020202020204"/>
              </a:defRPr>
            </a:pPr>
            <a:r>
              <a:t>Схема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0824" y="1574011"/>
            <a:ext cx="603504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1100" b="1">
                <a:solidFill>
                  <a:srgbClr val="221733"/>
                </a:solidFill>
                <a:latin typeface="Arial" panose="020B0704020202020204"/>
              </a:defRPr>
            </a:pPr>
            <a:r>
              <a:t>91,2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0672" y="1717389"/>
            <a:ext cx="566928" cy="1528730"/>
          </a:xfrm>
          <a:prstGeom prst="rect">
            <a:avLst/>
          </a:prstGeom>
          <a:solidFill>
            <a:srgbClr val="FF7A45"/>
          </a:solidFill>
          <a:ln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3310128"/>
            <a:ext cx="685800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950" b="0">
                <a:solidFill>
                  <a:srgbClr val="221733"/>
                </a:solidFill>
                <a:latin typeface="Arial" panose="020B0704020202020204"/>
              </a:defRPr>
            </a:pPr>
            <a:r>
              <a:t>Схема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1479645"/>
            <a:ext cx="603504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1100" b="1">
                <a:solidFill>
                  <a:srgbClr val="221733"/>
                </a:solidFill>
                <a:latin typeface="Arial" panose="020B0704020202020204"/>
              </a:defRPr>
            </a:pPr>
            <a:r>
              <a:t>97,2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005840"/>
            <a:ext cx="3429000" cy="27889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0992" y="1170432"/>
            <a:ext cx="141732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1450" b="1">
                <a:solidFill>
                  <a:srgbClr val="00A676"/>
                </a:solidFill>
                <a:latin typeface="Arial" panose="020B0704020202020204"/>
              </a:defRPr>
            </a:pPr>
            <a:r>
              <a:t>OPEX схемы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737360"/>
            <a:ext cx="1097280" cy="182880"/>
          </a:xfrm>
          <a:prstGeom prst="rect">
            <a:avLst/>
          </a:prstGeom>
          <a:solidFill>
            <a:srgbClr val="5278C6"/>
          </a:solidFill>
          <a:ln>
            <a:solidFill>
              <a:srgbClr val="52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97880" y="2340864"/>
            <a:ext cx="137160" cy="182880"/>
          </a:xfrm>
          <a:prstGeom prst="rect">
            <a:avLst/>
          </a:prstGeom>
          <a:solidFill>
            <a:srgbClr val="FF7A45"/>
          </a:solidFill>
          <a:ln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97880" y="2944368"/>
            <a:ext cx="18643" cy="182880"/>
          </a:xfrm>
          <a:prstGeom prst="rect">
            <a:avLst/>
          </a:prstGeom>
          <a:solidFill>
            <a:srgbClr val="79B968"/>
          </a:solidFill>
          <a:ln>
            <a:solidFill>
              <a:srgbClr val="79B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4041648"/>
            <a:ext cx="2788920" cy="502920"/>
          </a:xfrm>
          <a:prstGeom prst="roundRect">
            <a:avLst/>
          </a:prstGeom>
          <a:solidFill>
            <a:srgbClr val="F7F3FB"/>
          </a:solidFill>
          <a:ln w="1651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041648"/>
            <a:ext cx="64008" cy="502920"/>
          </a:xfrm>
          <a:prstGeom prst="rect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39" y="4105656"/>
            <a:ext cx="2587751" cy="2103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500" b="1">
                <a:solidFill>
                  <a:srgbClr val="5B2A86"/>
                </a:solidFill>
                <a:latin typeface="Arial" panose="020B0704020202020204"/>
              </a:defRPr>
            </a:pPr>
            <a:r>
              <a:t>+13,70 млн руб.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39" y="4352544"/>
            <a:ext cx="2587751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780" b="0">
                <a:solidFill>
                  <a:srgbClr val="5A5268"/>
                </a:solidFill>
                <a:latin typeface="Arial" panose="020B0704020202020204"/>
              </a:defRPr>
            </a:pPr>
            <a:r>
              <a:t>доп. CAPEX схемы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0600" y="4041648"/>
            <a:ext cx="2788920" cy="502920"/>
          </a:xfrm>
          <a:prstGeom prst="roundRect">
            <a:avLst/>
          </a:prstGeom>
          <a:solidFill>
            <a:srgbClr val="F7F3FB"/>
          </a:solidFill>
          <a:ln w="1651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00600" y="4041648"/>
            <a:ext cx="64008" cy="502920"/>
          </a:xfrm>
          <a:prstGeom prst="rect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105656"/>
            <a:ext cx="2587751" cy="2103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500" b="1">
                <a:solidFill>
                  <a:srgbClr val="00A676"/>
                </a:solidFill>
                <a:latin typeface="Arial" panose="020B0704020202020204"/>
              </a:defRPr>
            </a:pPr>
            <a:r>
              <a:t>12,31 млн руб./год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352544"/>
            <a:ext cx="2587751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780" b="0">
                <a:solidFill>
                  <a:srgbClr val="5A5268"/>
                </a:solidFill>
                <a:latin typeface="Arial" panose="020B0704020202020204"/>
              </a:defRPr>
            </a:pPr>
            <a:r>
              <a:t>экономия OPEX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1719072"/>
            <a:ext cx="1280160" cy="201168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l">
              <a:defRPr sz="920" b="1">
                <a:solidFill>
                  <a:srgbClr val="221733"/>
                </a:solidFill>
                <a:latin typeface="Arial" panose="020B0704020202020204"/>
              </a:defRPr>
            </a:pPr>
            <a:r>
              <a:t>Электроэнергия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1709928"/>
            <a:ext cx="868680" cy="228600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l">
              <a:defRPr sz="910" b="1">
                <a:solidFill>
                  <a:srgbClr val="221733"/>
                </a:solidFill>
                <a:latin typeface="Arial" panose="020B0704020202020204"/>
              </a:defRPr>
            </a:pPr>
            <a:r>
              <a:t>16,48 млн; 87,6%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8" y="2322576"/>
            <a:ext cx="1280160" cy="201168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l">
              <a:defRPr sz="920" b="1">
                <a:solidFill>
                  <a:srgbClr val="221733"/>
                </a:solidFill>
                <a:latin typeface="Arial" panose="020B0704020202020204"/>
              </a:defRPr>
            </a:pPr>
            <a:r>
              <a:t>ТО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2313432"/>
            <a:ext cx="868680" cy="228600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l">
              <a:defRPr sz="910" b="1">
                <a:solidFill>
                  <a:srgbClr val="221733"/>
                </a:solidFill>
                <a:latin typeface="Arial" panose="020B0704020202020204"/>
              </a:defRPr>
            </a:pPr>
            <a:r>
              <a:t>2,06 млн; 10,9%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4608" y="2926080"/>
            <a:ext cx="1280160" cy="201168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l">
              <a:defRPr sz="920" b="1">
                <a:solidFill>
                  <a:srgbClr val="221733"/>
                </a:solidFill>
                <a:latin typeface="Arial" panose="020B0704020202020204"/>
              </a:defRPr>
            </a:pPr>
            <a:r>
              <a:t>Вода/хладагент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4032" y="2916936"/>
            <a:ext cx="868680" cy="228600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l">
              <a:defRPr sz="910" b="1">
                <a:solidFill>
                  <a:srgbClr val="221733"/>
                </a:solidFill>
                <a:latin typeface="Arial" panose="020B0704020202020204"/>
              </a:defRPr>
            </a:pPr>
            <a:r>
              <a:t>0,28 млн; 1,5%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6720840" cy="7498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2500" b="1">
                <a:solidFill>
                  <a:srgbClr val="221733"/>
                </a:solidFill>
                <a:latin typeface="Arial" panose="020B0704020202020204"/>
              </a:defRPr>
            </a:pPr>
            <a:r>
              <a:t>ТЭО: жизненный цикл и итоговые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258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r">
              <a:defRPr sz="2800" b="1">
                <a:solidFill>
                  <a:srgbClr val="111111"/>
                </a:solidFill>
                <a:latin typeface="Arial" panose="020B0704020202020204"/>
              </a:defRPr>
            </a:pPr>
            <a:r>
              <a:t>ИТМО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3657600" cy="137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650" b="0">
                <a:solidFill>
                  <a:srgbClr val="555555"/>
                </a:solidFill>
                <a:latin typeface="Arial" panose="020B0704020202020204"/>
              </a:defRPr>
            </a:pPr>
            <a:r>
              <a:t>ВКР Терновой Р.Р. | Университет ИТМО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7406640" cy="27889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0A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52728"/>
            <a:ext cx="6858000" cy="2057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4400" y="4041648"/>
            <a:ext cx="2788920" cy="502920"/>
          </a:xfrm>
          <a:prstGeom prst="roundRect">
            <a:avLst/>
          </a:prstGeom>
          <a:solidFill>
            <a:srgbClr val="F7F3FB"/>
          </a:solidFill>
          <a:ln w="16510">
            <a:solidFill>
              <a:srgbClr val="F23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041648"/>
            <a:ext cx="64008" cy="502920"/>
          </a:xfrm>
          <a:prstGeom prst="rect">
            <a:avLst/>
          </a:prstGeom>
          <a:solidFill>
            <a:srgbClr val="F23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05656"/>
            <a:ext cx="2587751" cy="2103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500" b="1">
                <a:solidFill>
                  <a:srgbClr val="F2388F"/>
                </a:solidFill>
                <a:latin typeface="Arial" panose="020B0704020202020204"/>
              </a:defRPr>
            </a:pPr>
            <a:r>
              <a:t>1,35 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52544"/>
            <a:ext cx="2587751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780" b="0">
                <a:solidFill>
                  <a:srgbClr val="5A5268"/>
                </a:solidFill>
                <a:latin typeface="Arial" panose="020B0704020202020204"/>
              </a:defRPr>
            </a:pPr>
            <a:r>
              <a:t>дисконт. срок окупаемости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041648"/>
            <a:ext cx="2788920" cy="502920"/>
          </a:xfrm>
          <a:prstGeom prst="roundRect">
            <a:avLst/>
          </a:prstGeom>
          <a:solidFill>
            <a:srgbClr val="F7F3FB"/>
          </a:solidFill>
          <a:ln w="16510">
            <a:solidFill>
              <a:srgbClr val="00A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0600" y="4041648"/>
            <a:ext cx="64008" cy="502920"/>
          </a:xfrm>
          <a:prstGeom prst="rect">
            <a:avLst/>
          </a:prstGeom>
          <a:solidFill>
            <a:srgbClr val="00A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4105656"/>
            <a:ext cx="2587751" cy="2103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500" b="1">
                <a:solidFill>
                  <a:srgbClr val="00A9D6"/>
                </a:solidFill>
                <a:latin typeface="Arial" panose="020B0704020202020204"/>
              </a:defRPr>
            </a:pPr>
            <a:r>
              <a:t>+51,84 млн руб.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352544"/>
            <a:ext cx="2587751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780" b="0">
                <a:solidFill>
                  <a:srgbClr val="5A5268"/>
                </a:solidFill>
                <a:latin typeface="Arial" panose="020B0704020202020204"/>
              </a:defRPr>
            </a:pPr>
            <a:r>
              <a:t>NPV за 15 лет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1152F"/>
                </a:solidFill>
                <a:latin typeface="Arial" panose="020B0704020202020204"/>
              </a:rPr>
              <a:t>Заключение</a:t>
            </a:r>
            <a:endParaRPr sz="30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A676"/>
                </a:solidFill>
                <a:latin typeface="Arial" panose="020B0704020202020204"/>
              </a:rPr>
              <a:t>Рекомендуемая схема — чиллер + ПТО + драйкулерный</a:t>
            </a:r>
            <a:endParaRPr sz="1800" b="1">
              <a:solidFill>
                <a:srgbClr val="00A676"/>
              </a:solidFill>
              <a:latin typeface="Arial" panose="020B0704020202020204"/>
            </a:endParaRP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00A676"/>
                </a:solidFill>
                <a:latin typeface="Arial" panose="020B0704020202020204"/>
              </a:rPr>
              <a:t>фрикулинг</a:t>
            </a:r>
            <a:endParaRPr sz="1800" b="1">
              <a:solidFill>
                <a:srgbClr val="00A676"/>
              </a:solidFill>
              <a:latin typeface="Arial" panose="020B07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572768"/>
            <a:ext cx="7315200" cy="530352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664208"/>
            <a:ext cx="20574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5B2D82"/>
                </a:solidFill>
                <a:latin typeface="Arial" panose="020B0704020202020204"/>
              </a:rPr>
              <a:t>Методика</a:t>
            </a:r>
            <a:endParaRPr sz="1120" b="1">
              <a:solidFill>
                <a:srgbClr val="5B2D82"/>
              </a:solidFill>
              <a:latin typeface="Arial" panose="020B07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71800" y="1655064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1152F"/>
                </a:solidFill>
                <a:latin typeface="Arial" panose="020B0704020202020204"/>
              </a:rPr>
              <a:t>разработан расчетный контур от климатических данных и тепловой нагрузки до PUE, OPEX и N+1</a:t>
            </a:r>
            <a:endParaRPr sz="1000" b="0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7315200" cy="530352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77440"/>
            <a:ext cx="20574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0AEEF"/>
                </a:solidFill>
                <a:latin typeface="Arial" panose="020B0704020202020204"/>
              </a:rPr>
              <a:t>Энергия</a:t>
            </a:r>
            <a:endParaRPr sz="1120" b="1">
              <a:solidFill>
                <a:srgbClr val="00AEEF"/>
              </a:solidFill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71800" y="2368296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1152F"/>
                </a:solidFill>
                <a:latin typeface="Arial" panose="020B0704020202020204"/>
              </a:rPr>
              <a:t>для Санкт-Петербурга доступно 5 502 ч/год фрикулинга при MCT = 10°C</a:t>
            </a:r>
            <a:endParaRPr sz="1000" b="0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999232"/>
            <a:ext cx="7315200" cy="530352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090672"/>
            <a:ext cx="20574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0A676"/>
                </a:solidFill>
                <a:latin typeface="Arial" panose="020B0704020202020204"/>
              </a:rPr>
              <a:t>Технический эффект</a:t>
            </a:r>
            <a:endParaRPr sz="1120" b="1">
              <a:solidFill>
                <a:srgbClr val="00A676"/>
              </a:solidFill>
              <a:latin typeface="Arial" panose="020B07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71800" y="3081528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1152F"/>
                </a:solidFill>
                <a:latin typeface="Arial" panose="020B0704020202020204"/>
              </a:rPr>
              <a:t>PUE снижается с 1,494 до 1,310; потребление охлаждения — на 43,5%</a:t>
            </a:r>
            <a:endParaRPr sz="1000" b="0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3712463"/>
            <a:ext cx="7315200" cy="530352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FF3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803903"/>
            <a:ext cx="20574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FF3F8E"/>
                </a:solidFill>
                <a:latin typeface="Arial" panose="020B0704020202020204"/>
              </a:rPr>
              <a:t>Экономика</a:t>
            </a:r>
            <a:endParaRPr sz="1120" b="1">
              <a:solidFill>
                <a:srgbClr val="FF3F8E"/>
              </a:solidFill>
              <a:latin typeface="Arial" panose="020B07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71800" y="3794759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1152F"/>
                </a:solidFill>
                <a:latin typeface="Arial" panose="020B0704020202020204"/>
              </a:rPr>
              <a:t>дополнительный CAPEX 13,70 млн руб. окупается за 1,35 года; NPV +51,84 млн руб.</a:t>
            </a:r>
            <a:endParaRPr sz="1000" b="0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4828032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650">
                <a:solidFill>
                  <a:srgbClr val="50505A"/>
                </a:solidFill>
                <a:latin typeface="Arial" panose="020B0704020202020204"/>
              </a:rPr>
              <a:t>ВКР Терновой Р.Р. | Университет ИТМО | 12/13</a:t>
            </a:r>
            <a:endParaRPr sz="650">
              <a:solidFill>
                <a:srgbClr val="50505A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 panose="020B0704020202020204"/>
              </a:rPr>
              <a:t>Спасибо
за внимание!</a:t>
            </a:r>
            <a:endParaRPr lang="en-US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 panose="020B0704020202020204"/>
              </a:rPr>
              <a:t>Терновой Радослав Руславнович
ВКР магистра, Университет ИТМО, 2026</a:t>
            </a:r>
            <a:endParaRPr sz="1200" b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3233</Words>
  <Application>WPS Presentation</Application>
  <PresentationFormat>Экран (16:9)</PresentationFormat>
  <Paragraphs>248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ALS Gorizont Bold Expanded</vt:lpstr>
      <vt:lpstr>苹方-简</vt:lpstr>
      <vt:lpstr>Golos Text</vt:lpstr>
      <vt:lpstr>冬青黑体简体中文</vt:lpstr>
      <vt:lpstr>Arial</vt:lpstr>
      <vt:lpstr>Golos Text DemiBold</vt:lpstr>
      <vt:lpstr>Hiragino Sans</vt:lpstr>
      <vt:lpstr>Golos Text</vt:lpstr>
      <vt:lpstr>Calibri</vt:lpstr>
      <vt:lpstr>Helvetica Neue</vt:lpstr>
      <vt:lpstr>Microsoft YaHei</vt:lpstr>
      <vt:lpstr>汉仪旗黑</vt:lpstr>
      <vt:lpstr>Arial Unicode MS</vt:lpstr>
      <vt:lpstr>宋体-简</vt:lpstr>
      <vt:lpstr>Тема1</vt:lpstr>
      <vt:lpstr>Особенности проектирования
хладоцентра для центра обработки данных</vt:lpstr>
      <vt:lpstr>Актуальность: охлаждение — главный резерв снижения PUE и OPEX</vt:lpstr>
      <vt:lpstr>Цель и задачи исследования</vt:lpstr>
      <vt:lpstr>Объект, предмет и научная новизна</vt:lpstr>
      <vt:lpstr>PowerPoint 演示文稿</vt:lpstr>
      <vt:lpstr>Климат Санкт-Петербурга дает 5 502 часа фрикулинга в год при MCT = 10°C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Спасибо
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Антон Иванов</cp:lastModifiedBy>
  <cp:revision>106</cp:revision>
  <dcterms:created xsi:type="dcterms:W3CDTF">2026-05-15T12:16:29Z</dcterms:created>
  <dcterms:modified xsi:type="dcterms:W3CDTF">2026-05-15T12:16:29Z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5F06D4F7582513029BD9016AAD83D841_42</vt:lpwstr>
  </property>
  <property fmtid="{D5CDD505-2E9C-101B-9397-08002B2CF9AE}" pid="3" name="KSOProductBuildVer">
    <vt:lpwstr>1033-12.1.25895.25895</vt:lpwstr>
  </property>
</Properties>
</file>
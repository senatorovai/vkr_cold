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5" r:id="rId3"/>
    <p:sldId id="324" r:id="rId4"/>
    <p:sldId id="325" r:id="rId5"/>
    <p:sldId id="322" r:id="rId6"/>
    <p:sldId id="326" r:id="rId7"/>
    <p:sldId id="284" r:id="rId8"/>
    <p:sldId id="316" r:id="rId9"/>
    <p:sldId id="315" r:id="rId10"/>
    <p:sldId id="317" r:id="rId11"/>
    <p:sldId id="319" r:id="rId12"/>
    <p:sldId id="320" r:id="rId13"/>
    <p:sldId id="263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2000" baseline="0"/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000" dirty="0">
              <a:latin typeface="Golos Text" panose="020B0503020202020204"/>
            </a:endParaRP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8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7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400" dirty="0">
              <a:latin typeface="Golos Text" panose="020B0503020202020204"/>
            </a:endParaRP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20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 pitchFamily="34" charset="0"/>
              <a:buNone/>
              <a:defRPr sz="2400"/>
            </a:lvl2pPr>
            <a:lvl3pPr marL="914400" indent="0">
              <a:buFont typeface="Arial" panose="020B0704020202020204" pitchFamily="34" charset="0"/>
              <a:buNone/>
              <a:defRPr sz="2000"/>
            </a:lvl3pPr>
            <a:lvl4pPr marL="1371600" indent="0">
              <a:buFont typeface="Arial" panose="020B0704020202020204" pitchFamily="34" charset="0"/>
              <a:buNone/>
              <a:defRPr sz="1800"/>
            </a:lvl4pPr>
            <a:lvl5pPr marL="1828800" indent="0">
              <a:buFont typeface="Arial" panose="020B07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7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7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7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7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  <a:endParaRPr lang="ru-RU" dirty="0"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7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7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tiff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tiff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tiff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slideLayout" Target="../slideLayouts/slideLayout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tiff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tiff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slideLayout" Target="../slideLayouts/slideLayout2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 panose="020B0704020202020204"/>
              </a:rPr>
              <a:t>Особенности проектирования
хладоцентра для центра обработки данных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6217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704020202020204"/>
              </a:rPr>
              <a:t>Терновой Радослав Руславнович
Руководитель: Цветков В.А., к.т.н., доцент
Университет ИТМО, 2026</a:t>
            </a:r>
            <a:endParaRPr sz="13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Актуальность: охлаждение — главный резерв снижения PUE и OPEX</a:t>
            </a:r>
            <a:endParaRPr lang="ru-RU"/>
          </a:p>
        </p:txBody>
      </p:sp>
      <p:pic>
        <p:nvPicPr>
          <p:cNvPr id="6" name="Picture 5" descr="s02_mach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13" y="1233715"/>
            <a:ext cx="7170057" cy="3410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704020202020204"/>
              </a:rPr>
              <a:t>ВКР Терновой Р.Р. | Университет ИТМО | 02/12</a:t>
            </a:r>
            <a:endParaRPr sz="7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Цель и задачи исследования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 descr="go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6852"/>
            <a:ext cx="4608513" cy="3842155"/>
          </a:xfrm>
          <a:prstGeom prst="rect">
            <a:avLst/>
          </a:prstGeom>
        </p:spPr>
      </p:pic>
      <p:pic>
        <p:nvPicPr>
          <p:cNvPr id="6" name="Picture 5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71" y="1153886"/>
            <a:ext cx="2532743" cy="3425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704020202020204"/>
              </a:rPr>
              <a:t>ВКР Терновой Р.Р. | Университет ИТМО | 03/12</a:t>
            </a:r>
            <a:endParaRPr sz="7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704020202020204"/>
              </a:rPr>
              <a:t>Объект, предмет и научная новизна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6" descr="obj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99" y="1792286"/>
            <a:ext cx="3635830" cy="1573671"/>
          </a:xfrm>
          <a:prstGeom prst="rect">
            <a:avLst/>
          </a:prstGeom>
        </p:spPr>
      </p:pic>
      <p:pic>
        <p:nvPicPr>
          <p:cNvPr id="8" name="Picture 7" descr="nove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016635"/>
            <a:ext cx="3618230" cy="760730"/>
          </a:xfrm>
          <a:prstGeom prst="rect">
            <a:avLst/>
          </a:prstGeom>
        </p:spPr>
      </p:pic>
      <p:pic>
        <p:nvPicPr>
          <p:cNvPr id="9" name="Picture 8" descr="s04_pulko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770" y="3011170"/>
            <a:ext cx="4081145" cy="1809115"/>
          </a:xfrm>
          <a:prstGeom prst="rect">
            <a:avLst/>
          </a:prstGeom>
        </p:spPr>
      </p:pic>
      <p:pic>
        <p:nvPicPr>
          <p:cNvPr id="10" name="Picture 9" descr="climate_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215" y="2157730"/>
            <a:ext cx="4076065" cy="866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704020202020204"/>
              </a:rPr>
              <a:t>ВКР Терновой Р.Р. | Университет ИТМО | 04/12</a:t>
            </a:r>
            <a:endParaRPr sz="7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2400" b="1">
                <a:solidFill>
                  <a:srgbClr val="21152F"/>
                </a:solidFill>
                <a:latin typeface="Arial" panose="020B0704020202020204"/>
              </a:rPr>
              <a:t>Современные подходы к охлаждению ЦОД</a:t>
            </a:r>
            <a:endParaRPr lang="ru-RU"/>
          </a:p>
        </p:txBody>
      </p:sp>
      <p:pic>
        <p:nvPicPr>
          <p:cNvPr id="6" name="Picture 5" descr="tech_co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1" y="1059322"/>
            <a:ext cx="3897086" cy="1734678"/>
          </a:xfrm>
          <a:prstGeom prst="rect">
            <a:avLst/>
          </a:prstGeom>
        </p:spPr>
      </p:pic>
      <p:pic>
        <p:nvPicPr>
          <p:cNvPr id="7" name="Picture 6" descr="s05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3105836"/>
            <a:ext cx="3897084" cy="1640335"/>
          </a:xfrm>
          <a:prstGeom prst="rect">
            <a:avLst/>
          </a:prstGeom>
        </p:spPr>
      </p:pic>
      <p:pic>
        <p:nvPicPr>
          <p:cNvPr id="8" name="Picture 7" descr="s05_sc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4" y="1059322"/>
            <a:ext cx="3632201" cy="36868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05/12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21152F"/>
                </a:solidFill>
                <a:latin typeface="Arial" panose="020B0704020202020204"/>
              </a:rPr>
              <a:t>Климат Санкт-Петербурга дает 5 502 часа фрикулинга в год при MCT = 10°C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/>
        </p:txBody>
      </p:sp>
      <p:pic>
        <p:nvPicPr>
          <p:cNvPr id="4" name="Picture 3" descr="s06_climate_co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1943"/>
            <a:ext cx="7467600" cy="3447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06/12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 t="586" b="586"/>
          <a:stretch>
            <a:fillRect/>
          </a:stretch>
        </p:blipFill>
        <p:spPr/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200" b="1">
                <a:solidFill>
                  <a:srgbClr val="21152F"/>
                </a:solidFill>
                <a:latin typeface="Arial" panose="020B0704020202020204"/>
              </a:rPr>
              <a:t>Методика расчета доводит исходные данные до PUE, OPEX и проверки N+1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6" descr="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33755"/>
            <a:ext cx="4819015" cy="4017645"/>
          </a:xfrm>
          <a:prstGeom prst="rect">
            <a:avLst/>
          </a:prstGeom>
        </p:spPr>
      </p:pic>
      <p:pic>
        <p:nvPicPr>
          <p:cNvPr id="8" name="Picture 7" descr="mct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690" y="953770"/>
            <a:ext cx="3355340" cy="36252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07/12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400" b="1">
                <a:solidFill>
                  <a:srgbClr val="21152F"/>
                </a:solidFill>
                <a:latin typeface="Arial" panose="020B0704020202020204"/>
              </a:rPr>
              <a:t>Три сравниваемые схемы хладоцентра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t="5924" b="5924"/>
          <a:stretch>
            <a:fillRect/>
          </a:stretch>
        </p:blipFill>
        <p:spPr/>
      </p:pic>
      <p:pic>
        <p:nvPicPr>
          <p:cNvPr id="15" name="Picture 14" descr="s08_sche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28" y="943208"/>
            <a:ext cx="5526315" cy="3875536"/>
          </a:xfrm>
          <a:prstGeom prst="rect">
            <a:avLst/>
          </a:prstGeom>
        </p:spPr>
      </p:pic>
      <p:pic>
        <p:nvPicPr>
          <p:cNvPr id="16" name="Picture 15" descr="schem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5720"/>
            <a:ext cx="2532744" cy="1883023"/>
          </a:xfrm>
          <a:prstGeom prst="rect">
            <a:avLst/>
          </a:prstGeom>
        </p:spPr>
      </p:pic>
      <p:pic>
        <p:nvPicPr>
          <p:cNvPr id="17" name="Picture 16" descr="schem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43208"/>
            <a:ext cx="2532744" cy="18830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08/12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20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5B2D82"/>
                </a:solidFill>
                <a:latin typeface="Arial"/>
              </a:rPr>
              <a:t>Помесячное потребление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1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676"/>
                </a:solidFill>
                <a:latin typeface="Arial"/>
              </a:rPr>
              <a:t>PUE по схемам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22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EEF"/>
                </a:solidFill>
                <a:latin typeface="Arial"/>
              </a:rPr>
              <a:t>Часы фрикулинга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200" b="1">
                <a:solidFill>
                  <a:srgbClr val="21152F"/>
                </a:solidFill>
                <a:latin typeface="Arial" panose="020B0704020202020204"/>
              </a:rPr>
              <a:t>Технический результат: фрикулинг снижает энергопотребление охлаждения на 43,5%</a:t>
            </a:r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t="6711" b="6711"/>
          <a:stretch>
            <a:fillRect/>
          </a:stretch>
        </p:blipFill>
        <p:spPr/>
      </p:pic>
      <p:sp>
        <p:nvSpPr>
          <p:cNvPr id="10" name="Рисунок 9"/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/>
          <p:cNvSpPr>
            <a:spLocks noGrp="1"/>
          </p:cNvSpPr>
          <p:nvPr>
            <p:ph type="pic" sz="quarter" idx="28"/>
          </p:nvPr>
        </p:nvSpPr>
        <p:spPr/>
      </p:sp>
      <p:pic>
        <p:nvPicPr>
          <p:cNvPr id="14" name="Picture 13" descr="s09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1" y="944463"/>
            <a:ext cx="2577001" cy="1883023"/>
          </a:xfrm>
          <a:prstGeom prst="rect">
            <a:avLst/>
          </a:prstGeom>
        </p:spPr>
      </p:pic>
      <p:pic>
        <p:nvPicPr>
          <p:cNvPr id="15" name="Picture 14" descr="s09_pu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666" y="944462"/>
            <a:ext cx="2577001" cy="1883023"/>
          </a:xfrm>
          <a:prstGeom prst="rect">
            <a:avLst/>
          </a:prstGeom>
        </p:spPr>
      </p:pic>
      <p:pic>
        <p:nvPicPr>
          <p:cNvPr id="16" name="Picture 15" descr="s09_fc_hou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690" y="944463"/>
            <a:ext cx="2577001" cy="1883023"/>
          </a:xfrm>
          <a:prstGeom prst="rect">
            <a:avLst/>
          </a:prstGeom>
        </p:spPr>
      </p:pic>
      <p:pic>
        <p:nvPicPr>
          <p:cNvPr id="17" name="Picture 16" descr="p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87828"/>
            <a:ext cx="2588883" cy="1395548"/>
          </a:xfrm>
          <a:prstGeom prst="rect">
            <a:avLst/>
          </a:prstGeom>
        </p:spPr>
      </p:pic>
      <p:pic>
        <p:nvPicPr>
          <p:cNvPr id="18" name="Picture 17" descr="sav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7251" y="3299578"/>
            <a:ext cx="2591416" cy="1395548"/>
          </a:xfrm>
          <a:prstGeom prst="rect">
            <a:avLst/>
          </a:prstGeom>
        </p:spPr>
      </p:pic>
      <p:pic>
        <p:nvPicPr>
          <p:cNvPr id="19" name="Picture 18" descr="tech_no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7600" y="3299578"/>
            <a:ext cx="2591416" cy="13955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09/12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200" b="1">
                <a:solidFill>
                  <a:srgbClr val="21152F"/>
                </a:solidFill>
                <a:latin typeface="Arial" panose="020B0704020202020204"/>
              </a:rPr>
              <a:t>ТЭО: дополнительный CAPEX Схемы 2 окупается за счет снижения OPEX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17"/>
          </p:nvPr>
        </p:nvPicPr>
        <p:blipFill>
          <a:blip r:embed="rId1"/>
          <a:srcRect t="5924" b="5924"/>
          <a:stretch>
            <a:fillRect/>
          </a:stretch>
        </p:blipFill>
        <p:spPr/>
      </p:pic>
      <p:sp>
        <p:nvSpPr>
          <p:cNvPr id="5" name="Рисунок 4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/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/>
          <p:cNvSpPr>
            <a:spLocks noGrp="1"/>
          </p:cNvSpPr>
          <p:nvPr>
            <p:ph type="pic" sz="quarter" idx="21"/>
          </p:nvPr>
        </p:nvSpPr>
        <p:spPr/>
      </p:sp>
      <p:pic>
        <p:nvPicPr>
          <p:cNvPr id="11" name="Picture 10" descr="s10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963397"/>
            <a:ext cx="2532744" cy="1883023"/>
          </a:xfrm>
          <a:prstGeom prst="rect">
            <a:avLst/>
          </a:prstGeom>
        </p:spPr>
      </p:pic>
      <p:pic>
        <p:nvPicPr>
          <p:cNvPr id="12" name="Picture 11" descr="s10_op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71" y="963397"/>
            <a:ext cx="2532744" cy="1883023"/>
          </a:xfrm>
          <a:prstGeom prst="rect">
            <a:avLst/>
          </a:prstGeom>
        </p:spPr>
      </p:pic>
      <p:pic>
        <p:nvPicPr>
          <p:cNvPr id="13" name="Picture 12" descr="s10_life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141" y="966928"/>
            <a:ext cx="2532744" cy="1883023"/>
          </a:xfrm>
          <a:prstGeom prst="rect">
            <a:avLst/>
          </a:prstGeom>
        </p:spPr>
      </p:pic>
      <p:pic>
        <p:nvPicPr>
          <p:cNvPr id="14" name="Picture 13" descr="capex_met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60314"/>
            <a:ext cx="2532744" cy="1883023"/>
          </a:xfrm>
          <a:prstGeom prst="rect">
            <a:avLst/>
          </a:prstGeom>
        </p:spPr>
      </p:pic>
      <p:pic>
        <p:nvPicPr>
          <p:cNvPr id="15" name="Picture 14" descr="opex_metr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5171" y="2960314"/>
            <a:ext cx="2532744" cy="1883023"/>
          </a:xfrm>
          <a:prstGeom prst="rect">
            <a:avLst/>
          </a:prstGeom>
        </p:spPr>
      </p:pic>
      <p:pic>
        <p:nvPicPr>
          <p:cNvPr id="16" name="Picture 15" descr="payb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3141" y="2954042"/>
            <a:ext cx="2532744" cy="18830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10/12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20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5B2D82"/>
                </a:solidFill>
                <a:latin typeface="Arial"/>
              </a:rPr>
              <a:t>Жизненный цикл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1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676"/>
                </a:solidFill>
                <a:latin typeface="Arial"/>
              </a:rPr>
              <a:t>Экономический эффект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22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EEF"/>
                </a:solidFill>
                <a:latin typeface="Arial"/>
              </a:rPr>
              <a:t>Сравнение PUE</a:t>
            </a:r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2200" b="1">
                <a:solidFill>
                  <a:srgbClr val="21152F"/>
                </a:solidFill>
                <a:latin typeface="Arial" panose="020B0704020202020204"/>
              </a:rPr>
              <a:t>Итоговый выбор: Схема 2 дает лучший баланс эффективности, CAPEX и надежности</a:t>
            </a:r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/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"/>
          <a:srcRect l="-243" t="8890" r="243" b="31362"/>
          <a:stretch>
            <a:fillRect/>
          </a:stretch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/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/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/>
          <p:cNvSpPr>
            <a:spLocks noGrp="1"/>
          </p:cNvSpPr>
          <p:nvPr>
            <p:ph type="body" sz="quarter" idx="34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5B2D82"/>
                </a:solidFill>
                <a:latin typeface="Arial"/>
              </a:rPr>
              <a:t>Методика расчета</a:t>
            </a:r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35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676"/>
                </a:solidFill>
                <a:latin typeface="Arial"/>
              </a:rPr>
              <a:t>Рекомендуемая схема</a:t>
            </a:r>
            <a:endParaRPr lang="ru-RU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36"/>
          </p:nvPr>
        </p:nvSpPr>
        <p:spPr/>
        <p:txBody>
          <a:bodyPr wrap="square" lIns="0" rIns="0" tIns="0" bIns="0" anchor="ctr">
            <a:normAutofit lnSpcReduction="10000"/>
          </a:bodyPr>
          <a:lstStyle/>
          <a:p>
            <a:pPr algn="ctr"/>
            <a:r>
              <a:rPr sz="1150" b="1">
                <a:solidFill>
                  <a:srgbClr val="00AEEF"/>
                </a:solidFill>
                <a:latin typeface="Arial"/>
              </a:rPr>
              <a:t>Практический эффект</a:t>
            </a:r>
            <a:endParaRPr lang="ru-RU"/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/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/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17" name="Picture 16" descr="s11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50" y="952607"/>
            <a:ext cx="2589213" cy="1304294"/>
          </a:xfrm>
          <a:prstGeom prst="rect">
            <a:avLst/>
          </a:prstGeom>
        </p:spPr>
      </p:pic>
      <p:pic>
        <p:nvPicPr>
          <p:cNvPr id="18" name="Picture 17" descr="np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18" y="952607"/>
            <a:ext cx="2589213" cy="1304294"/>
          </a:xfrm>
          <a:prstGeom prst="rect">
            <a:avLst/>
          </a:prstGeom>
        </p:spPr>
      </p:pic>
      <p:pic>
        <p:nvPicPr>
          <p:cNvPr id="19" name="Picture 18" descr="s11_p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789" y="952607"/>
            <a:ext cx="2589213" cy="1304294"/>
          </a:xfrm>
          <a:prstGeom prst="rect">
            <a:avLst/>
          </a:prstGeom>
        </p:spPr>
      </p:pic>
      <p:pic>
        <p:nvPicPr>
          <p:cNvPr id="20" name="Picture 19" descr="final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2866358"/>
            <a:ext cx="2589213" cy="1304294"/>
          </a:xfrm>
          <a:prstGeom prst="rect">
            <a:avLst/>
          </a:prstGeom>
        </p:spPr>
      </p:pic>
      <p:pic>
        <p:nvPicPr>
          <p:cNvPr id="21" name="Picture 20" descr="fina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8969" y="2866358"/>
            <a:ext cx="2589213" cy="1304294"/>
          </a:xfrm>
          <a:prstGeom prst="rect">
            <a:avLst/>
          </a:prstGeom>
        </p:spPr>
      </p:pic>
      <p:pic>
        <p:nvPicPr>
          <p:cNvPr id="22" name="Picture 21" descr="final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940" y="2866358"/>
            <a:ext cx="2589213" cy="130429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8280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D5870"/>
                </a:solidFill>
                <a:latin typeface="Arial" panose="020B0704020202020204"/>
              </a:rPr>
              <a:t>ВКР Терновой Р.Р. | Университет ИТМО | 11/12</a:t>
            </a:r>
            <a:endParaRPr sz="700" b="0">
              <a:solidFill>
                <a:srgbClr val="5D5870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 panose="020B0704020202020204"/>
              </a:rPr>
              <a:t>Спасибо
за внимание!</a:t>
            </a:r>
            <a:endParaRPr lang="en-US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 panose="020B0704020202020204"/>
              </a:rPr>
              <a:t>Терновой Радослав Руславнович
ВКР магистра, Университет ИТМО, 2026</a:t>
            </a:r>
            <a:endParaRPr sz="1200" b="0">
              <a:solidFill>
                <a:srgbClr val="FFFFFF"/>
              </a:solidFill>
              <a:latin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WPS Presentation</Application>
  <PresentationFormat>Экран (16:9)</PresentationFormat>
  <Paragraphs>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ALS Gorizont Bold Expanded</vt:lpstr>
      <vt:lpstr>苹方-简</vt:lpstr>
      <vt:lpstr>Golos Text</vt:lpstr>
      <vt:lpstr>冬青黑体简体中文</vt:lpstr>
      <vt:lpstr>Arial</vt:lpstr>
      <vt:lpstr>Golos Text DemiBold</vt:lpstr>
      <vt:lpstr>Hiragino Sans</vt:lpstr>
      <vt:lpstr>Golos Text</vt:lpstr>
      <vt:lpstr>Calibri</vt:lpstr>
      <vt:lpstr>Helvetica Neue</vt:lpstr>
      <vt:lpstr>Microsoft YaHei</vt:lpstr>
      <vt:lpstr>汉仪旗黑</vt:lpstr>
      <vt:lpstr>Arial Unicode MS</vt:lpstr>
      <vt:lpstr>宋体-简</vt:lpstr>
      <vt:lpstr>Тема1</vt:lpstr>
      <vt:lpstr>Особенности проектирования
хладоцентра для центра обработки данных</vt:lpstr>
      <vt:lpstr>Актуальность: охлаждение — главный резерв снижения PUE и OPEX</vt:lpstr>
      <vt:lpstr>Цель и задачи исследования</vt:lpstr>
      <vt:lpstr>Объект, предмет и научная новизна</vt:lpstr>
      <vt:lpstr>Современные подходы к охлаждению ЦОД</vt:lpstr>
      <vt:lpstr>Климат Санкт-Петербурга дает 5 502 часа фрикулинга в год при MCT = 10°C</vt:lpstr>
      <vt:lpstr>Методика расчета доводит исходные данные до PUE, OPEX и проверки N+1</vt:lpstr>
      <vt:lpstr>Три сравниваемые схемы хладоцентра</vt:lpstr>
      <vt:lpstr>Технический результат: фрикулинг снижает энергопотребление охлаждения на 43,5%</vt:lpstr>
      <vt:lpstr>ТЭО: дополнительный CAPEX Схемы 2 окупается за счет снижения OPEX</vt:lpstr>
      <vt:lpstr>Итоговый выбор: Схема 2 дает лучший баланс эффективности, CAPEX и надежности</vt:lpstr>
      <vt:lpstr>Спасибо
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Антон Иванов</cp:lastModifiedBy>
  <cp:revision>104</cp:revision>
  <dcterms:created xsi:type="dcterms:W3CDTF">2026-05-11T13:28:59Z</dcterms:created>
  <dcterms:modified xsi:type="dcterms:W3CDTF">2026-05-11T13:28:59Z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5F06D4F7582513029BD9016AAD83D841_42</vt:lpwstr>
  </property>
  <property fmtid="{D5CDD505-2E9C-101B-9397-08002B2CF9AE}" pid="3" name="KSOProductBuildVer">
    <vt:lpwstr>1033-12.1.25867.25867</vt:lpwstr>
  </property>
</Properties>
</file>
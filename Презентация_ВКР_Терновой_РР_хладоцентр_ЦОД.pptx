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65" r:id="rId3"/>
    <p:sldId id="324" r:id="rId4"/>
    <p:sldId id="325" r:id="rId5"/>
    <p:sldId id="322" r:id="rId6"/>
    <p:sldId id="326" r:id="rId7"/>
    <p:sldId id="284" r:id="rId8"/>
    <p:sldId id="316" r:id="rId9"/>
    <p:sldId id="315" r:id="rId10"/>
    <p:sldId id="317" r:id="rId11"/>
    <p:sldId id="319" r:id="rId12"/>
    <p:sldId id="320" r:id="rId13"/>
    <p:sldId id="263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 userDrawn="1">
          <p15:clr>
            <a:srgbClr val="A4A3A4"/>
          </p15:clr>
        </p15:guide>
        <p15:guide id="2" pos="287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864" y="1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Relationship Id="rId2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2000" baseline="0"/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2000" dirty="0">
              <a:latin typeface="Golos Text" panose="020B0503020202020204"/>
            </a:endParaRP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8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8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7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2400" dirty="0">
              <a:latin typeface="Golos Text" panose="020B0503020202020204"/>
            </a:endParaRP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20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20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5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6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16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4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5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6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704020202020204" pitchFamily="34" charset="0"/>
              <a:buNone/>
              <a:defRPr sz="2400"/>
            </a:lvl2pPr>
            <a:lvl3pPr marL="914400" indent="0">
              <a:buFont typeface="Arial" panose="020B0704020202020204" pitchFamily="34" charset="0"/>
              <a:buNone/>
              <a:defRPr sz="2000"/>
            </a:lvl3pPr>
            <a:lvl4pPr marL="1371600" indent="0">
              <a:buFont typeface="Arial" panose="020B0704020202020204" pitchFamily="34" charset="0"/>
              <a:buNone/>
              <a:defRPr sz="1800"/>
            </a:lvl4pPr>
            <a:lvl5pPr marL="1828800" indent="0">
              <a:buFont typeface="Arial" panose="020B07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  <a:endParaRPr lang="ru-RU" sz="2000" dirty="0"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/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7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  <a:endParaRPr lang="ru-RU" sz="1600" dirty="0">
              <a:latin typeface="Golos Text" panose="020B0503020202020204"/>
            </a:endParaRP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  <a:endParaRPr lang="ru-RU" sz="16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/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</p:txBody>
      </p:sp>
      <p:sp>
        <p:nvSpPr>
          <p:cNvPr id="5" name="Текст 13"/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6" name="Текст 7"/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7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2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2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  <p:sp>
        <p:nvSpPr>
          <p:cNvPr id="7" name="Текст 13"/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704020202020204" pitchFamily="34" charset="0"/>
              <a:buNone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  <a:endParaRPr lang="ru-RU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algn="l">
              <a:buFont typeface="Arial" panose="020B07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  <a:endParaRPr lang="ru-RU" sz="1400" b="0" i="0" dirty="0">
              <a:solidFill>
                <a:srgbClr val="2C2D2E"/>
              </a:solidFill>
              <a:effectLst/>
              <a:latin typeface="Golos Text" panose="020B0503020202020204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6" name="Рисунок 2"/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/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4" name="Текст 6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5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  <a:endParaRPr lang="ru-RU" sz="1400" dirty="0">
              <a:latin typeface="Golos Text" panose="020B0503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/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/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  <a:endParaRPr lang="ru-RU" dirty="0"/>
          </a:p>
        </p:txBody>
      </p:sp>
      <p:sp>
        <p:nvSpPr>
          <p:cNvPr id="4" name="Рисунок 2"/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/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/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7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  <a:endParaRPr lang="ru-RU" dirty="0"/>
          </a:p>
        </p:txBody>
      </p:sp>
      <p:sp>
        <p:nvSpPr>
          <p:cNvPr id="7" name="Рисунок 2"/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/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/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/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2" name="Рисунок 2"/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3" name="Рисунок 2"/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17" name="Text Placeholder 24"/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 panose="020B0704020202020204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  <a:endParaRPr lang="ru-RU" dirty="0"/>
          </a:p>
        </p:txBody>
      </p:sp>
      <p:sp>
        <p:nvSpPr>
          <p:cNvPr id="23" name="Рисунок 2"/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24" name="Рисунок 2"/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  <p:sp>
        <p:nvSpPr>
          <p:cNvPr id="31" name="Рисунок 2"/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  <a:endParaRPr lang="ru-RU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7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7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9.xml"/><Relationship Id="rId6" Type="http://schemas.openxmlformats.org/officeDocument/2006/relationships/image" Target="../media/image39.png"/><Relationship Id="rId7" Type="http://schemas.openxmlformats.org/officeDocument/2006/relationships/image" Target="../media/image4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21.xml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tiff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2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jpeg"/><Relationship Id="rId2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71600" y="2442525"/>
            <a:ext cx="6400800" cy="704850"/>
          </a:xfr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 panose="020B0704020202020204"/>
              </a:rPr>
              <a:t>Особенности проектирования
хладоцентра для центра обработки данных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3401568"/>
            <a:ext cx="6217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 panose="020B0704020202020204"/>
              </a:rPr>
              <a:t>Терновой Радослав Руславнович
Руководитель: Цветков В.А., к.т.н., доцент
Университет ИТМО, 2026</a:t>
            </a:r>
            <a:endParaRPr sz="1300" b="0">
              <a:solidFill>
                <a:srgbClr val="FFFFFF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Актуальность: охлаждение — главный резерв снижения PUE и OPEX</a:t>
            </a:r>
            <a:endParaRPr lang="ru-RU"/>
          </a:p>
        </p:txBody>
      </p:sp>
      <p:pic>
        <p:nvPicPr>
          <p:cNvPr id="6" name="Picture 5" descr="s02_mach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13" y="1233715"/>
            <a:ext cx="7170057" cy="34108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704020202020204"/>
              </a:rPr>
              <a:t>ВКР Терновой Р.Р. | Университет ИТМО | 02/12</a:t>
            </a:r>
            <a:endParaRPr sz="700" b="0">
              <a:solidFill>
                <a:srgbClr val="FFFFFF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/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Цель и задачи исследования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704020202020204"/>
              </a:rPr>
              <a:t>ВКР Терновой Р.Р. | Университет ИТМО | 03/12</a:t>
            </a:r>
            <a:endParaRPr sz="700" b="0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932688"/>
            <a:ext cx="4608576" cy="3840480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5961"/>
            <a:ext cx="42793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5B2D82"/>
                </a:solidFill>
                <a:latin typeface="Arial" panose="020B0704020202020204"/>
              </a:rPr>
              <a:t>1 200 кВт</a:t>
            </a:r>
            <a:endParaRPr sz="3800" b="1">
              <a:solidFill>
                <a:srgbClr val="5B2D82"/>
              </a:solidFill>
              <a:latin typeface="Arial" panose="020B07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002663"/>
            <a:ext cx="42793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Цель</a:t>
            </a:r>
            <a:endParaRPr sz="24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1728216"/>
            <a:ext cx="4224528" cy="2971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5D5870"/>
                </a:solidFill>
                <a:latin typeface="Arial" panose="020B0704020202020204"/>
              </a:rPr>
              <a:t>обосновать проектные решения хладоцентра ЦОД с минимизацией энергопотребления за счет гибридной схемы и фрикулинга</a:t>
            </a:r>
            <a:endParaRPr sz="190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78145" y="1186815"/>
            <a:ext cx="2537460" cy="87884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50865" y="1458468"/>
            <a:ext cx="237744" cy="237744"/>
          </a:xfrm>
          <a:prstGeom prst="ellipse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0865" y="1466088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1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36208" y="1355217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Анализ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80963" y="1649095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современные схемы охлаждения ЦОД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13070" y="2157730"/>
            <a:ext cx="2491105" cy="69469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6110" y="2360041"/>
            <a:ext cx="237744" cy="237744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06110" y="2350516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2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36208" y="2199640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Климат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80963" y="2525268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потенциал фрикулинга Санкт-Петербурга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501005" y="2999105"/>
            <a:ext cx="2514600" cy="694690"/>
          </a:xfrm>
          <a:prstGeom prst="roundRect">
            <a:avLst>
              <a:gd name="adj" fmla="val 10038"/>
            </a:avLst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06110" y="3235578"/>
            <a:ext cx="237744" cy="237744"/>
          </a:xfrm>
          <a:prstGeom prst="ellipse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06110" y="3235578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3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36208" y="3105023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Методика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80963" y="3401440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подбор оборудования и расчет PUE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01005" y="3840480"/>
            <a:ext cx="2527935" cy="702945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706110" y="4059047"/>
            <a:ext cx="237744" cy="237744"/>
          </a:xfrm>
          <a:prstGeom prst="ellipse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6110" y="4067937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Arial" panose="020B0704020202020204"/>
              </a:rPr>
              <a:t>4</a:t>
            </a:r>
            <a:endParaRPr sz="800" b="1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36208" y="3959606"/>
            <a:ext cx="1536192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1152F"/>
                </a:solidFill>
                <a:latin typeface="Arial" panose="020B0704020202020204"/>
              </a:rPr>
              <a:t>ТЭО</a:t>
            </a:r>
            <a:endParaRPr sz="13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80963" y="4251579"/>
            <a:ext cx="1536192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0">
                <a:solidFill>
                  <a:srgbClr val="5D5870"/>
                </a:solidFill>
                <a:latin typeface="Arial" panose="020B0704020202020204"/>
              </a:rPr>
              <a:t>CAPEX, OPEX, окупаемость и NPV</a:t>
            </a:r>
            <a:endParaRPr sz="93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 panose="020B0704020202020204"/>
              </a:rPr>
              <a:t>Объект, предмет и научная новизна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Picture 8" descr="s04_pulkov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3770" y="3011170"/>
            <a:ext cx="4081145" cy="18091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704020202020204"/>
              </a:rPr>
              <a:t>ВКР Терновой Р.Р. | Университет ИТМО | 04/12</a:t>
            </a:r>
            <a:endParaRPr sz="700" b="0">
              <a:solidFill>
                <a:srgbClr val="FFFFFF"/>
              </a:solidFill>
              <a:latin typeface="Arial" panose="020B07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12064" y="1792224"/>
            <a:ext cx="3639312" cy="1572768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1792224"/>
            <a:ext cx="91440" cy="1572768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1901952"/>
            <a:ext cx="33101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1152F"/>
                </a:solidFill>
                <a:latin typeface="Arial" panose="020B0704020202020204"/>
              </a:rPr>
              <a:t>Объект и предмет</a:t>
            </a:r>
            <a:endParaRPr sz="15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0664" y="2194560"/>
            <a:ext cx="3255264" cy="10972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5870"/>
                </a:solidFill>
                <a:latin typeface="Arial" panose="020B0704020202020204"/>
              </a:rPr>
              <a:t>система холодоснабжения ЦОД; процессы теплообмена, энергоэффективность и режимы работы оборудования хладоцентра</a:t>
            </a:r>
            <a:endParaRPr sz="105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12064" y="1014984"/>
            <a:ext cx="3621024" cy="758952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1014984"/>
            <a:ext cx="91440" cy="758952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1124712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21152F"/>
                </a:solidFill>
                <a:latin typeface="Arial" panose="020B0704020202020204"/>
              </a:rPr>
              <a:t>Новизна</a:t>
            </a:r>
            <a:endParaRPr sz="105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0664" y="1417320"/>
            <a:ext cx="3236976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5D5870"/>
                </a:solidFill>
                <a:latin typeface="Arial" panose="020B0704020202020204"/>
              </a:rPr>
              <a:t>единый расчетный контур: климатические бины, тепловая нагрузка, часы фрикулинга, PUE и экономика</a:t>
            </a:r>
            <a:endParaRPr sz="68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764024" y="2157984"/>
            <a:ext cx="4078224" cy="868680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64024" y="2157984"/>
            <a:ext cx="91440" cy="86868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267712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1152F"/>
                </a:solidFill>
                <a:latin typeface="Arial" panose="020B0704020202020204"/>
              </a:rPr>
              <a:t>Климатическая база</a:t>
            </a:r>
            <a:endParaRPr sz="115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92624" y="2560320"/>
            <a:ext cx="3694176" cy="3931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5D5870"/>
                </a:solidFill>
                <a:latin typeface="Arial" panose="020B0704020202020204"/>
              </a:rPr>
              <a:t>Санкт-Петербург, Пулково, СП 131.13330.2020; расчет часов фрикулинга через температурные бины</a:t>
            </a:r>
            <a:endParaRPr sz="72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Современные подходы к охлаждению ЦОД</a:t>
            </a:r>
            <a:endParaRPr lang="ru-RU"/>
          </a:p>
        </p:txBody>
      </p:sp>
      <p:pic>
        <p:nvPicPr>
          <p:cNvPr id="6" name="Picture 5" descr="tech_com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1" y="1059322"/>
            <a:ext cx="3897086" cy="1734678"/>
          </a:xfrm>
          <a:prstGeom prst="rect">
            <a:avLst/>
          </a:prstGeom>
        </p:spPr>
      </p:pic>
      <p:pic>
        <p:nvPicPr>
          <p:cNvPr id="7" name="Picture 6" descr="s05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3105836"/>
            <a:ext cx="3897084" cy="1640335"/>
          </a:xfrm>
          <a:prstGeom prst="rect">
            <a:avLst/>
          </a:prstGeom>
        </p:spPr>
      </p:pic>
      <p:pic>
        <p:nvPicPr>
          <p:cNvPr id="8" name="Picture 7" descr="s05_sch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14" y="1059322"/>
            <a:ext cx="3632201" cy="36868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5D5870"/>
                </a:solidFill>
                <a:latin typeface="Arial" panose="020B0704020202020204"/>
              </a:rPr>
              <a:t>ВКР Терновой Р.Р. | Университет ИТМО | 05/12</a:t>
            </a:r>
            <a:endParaRPr sz="70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Климат Санкт-Петербурга дает 5 502 часа фрикулинга в год при MCT = 10°C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/>
        </p:txBody>
      </p:sp>
      <p:pic>
        <p:nvPicPr>
          <p:cNvPr id="4" name="Picture 3" descr="s06_climate_com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1943"/>
            <a:ext cx="7467600" cy="34471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5D5870"/>
                </a:solidFill>
                <a:latin typeface="Arial" panose="020B0704020202020204"/>
              </a:rPr>
              <a:t>ВКР Терновой Р.Р. | Университет ИТМО | 06/12</a:t>
            </a:r>
            <a:endParaRPr sz="70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6720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/>
              </a:rPr>
              <a:t>Методика расчета: потенциал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21152F"/>
                </a:solidFill>
                <a:latin typeface="Arial"/>
              </a:rPr>
              <a:t>фрикулинга зависит от порога MCT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5989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045" y="1261872"/>
            <a:ext cx="4940212" cy="280720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20840" y="132588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20840" y="1325880"/>
            <a:ext cx="64008" cy="804672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38074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A676"/>
                </a:solidFill>
                <a:latin typeface="Arial"/>
              </a:rPr>
              <a:t>5 502 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934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5870"/>
                </a:solidFill>
                <a:latin typeface="Arial"/>
              </a:rPr>
              <a:t>MCT = 10°C, рекомендуемая Схема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0840" y="2331720"/>
            <a:ext cx="64008" cy="804672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38658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F3F8E"/>
                </a:solidFill>
                <a:latin typeface="Arial"/>
              </a:rPr>
              <a:t>5 994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1518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5870"/>
                </a:solidFill>
                <a:latin typeface="Arial"/>
              </a:rPr>
              <a:t>MCT = 12°C, Схема 3 с ТАХ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337560"/>
            <a:ext cx="1554480" cy="80467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3337560"/>
            <a:ext cx="64008" cy="80467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392424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EEF"/>
                </a:solidFill>
                <a:latin typeface="Arial"/>
              </a:rPr>
              <a:t>+492 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21024"/>
            <a:ext cx="1335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дополнительный фрикулинг при усложнении схемы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D5870"/>
                </a:solidFill>
                <a:latin typeface="Arial"/>
              </a:rPr>
              <a:t>ВКР Терновой Р.Р. | Университет ИТМО | 07/12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>
            <a:normAutofit fontScale="90000"/>
          </a:bodyPr>
          <a:lstStyle/>
          <a:p>
            <a:pPr algn="l"/>
            <a:r>
              <a:rPr sz="2400" b="1">
                <a:solidFill>
                  <a:srgbClr val="21152F"/>
                </a:solidFill>
                <a:latin typeface="Arial" panose="020B0704020202020204"/>
              </a:rPr>
              <a:t>Три сравниваемые схемы хладоцентра</a:t>
            </a: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4"/>
          </p:nvPr>
        </p:nvSpPr>
        <p:spPr/>
      </p:sp>
      <p:pic>
        <p:nvPicPr>
          <p:cNvPr id="14" name="Рисунок 13" descr="Изображение выглядит как человек, внутренний, стена&#10;&#10;Автоматически созданное описание"/>
          <p:cNvPicPr>
            <a:picLocks noGrp="1" noChangeAspect="1"/>
          </p:cNvPicPr>
          <p:nvPr>
            <p:ph type="pic" sz="quarter" idx="13"/>
          </p:nvPr>
        </p:nvPicPr>
        <p:blipFill>
          <a:blip r:embed="rId1"/>
          <a:srcRect t="5924" b="5924"/>
          <a:stretch>
            <a:fillRect/>
          </a:stretch>
        </p:blipFill>
        <p:spPr/>
      </p:pic>
      <p:pic>
        <p:nvPicPr>
          <p:cNvPr id="15" name="Picture 14" descr="s08_schem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428" y="943208"/>
            <a:ext cx="5526315" cy="3875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>
                <a:solidFill>
                  <a:srgbClr val="5D5870"/>
                </a:solidFill>
                <a:latin typeface="Arial" panose="020B0704020202020204"/>
              </a:rPr>
              <a:t>ВКР Терновой Р.Р. | Университет ИТМО | 08/12</a:t>
            </a:r>
            <a:endParaRPr sz="70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7200" y="941832"/>
            <a:ext cx="2532888" cy="1883664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941832"/>
            <a:ext cx="91440" cy="1883664"/>
          </a:xfrm>
          <a:prstGeom prst="rect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051560"/>
            <a:ext cx="220370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152F"/>
                </a:solidFill>
                <a:latin typeface="Arial" panose="020B0704020202020204"/>
              </a:rPr>
              <a:t>Схема 1</a:t>
            </a:r>
            <a:endParaRPr sz="18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5800" y="1344168"/>
            <a:ext cx="2148840" cy="1408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5870"/>
                </a:solidFill>
                <a:latin typeface="Arial" panose="020B0704020202020204"/>
              </a:rPr>
              <a:t>чиллер с воздушным конденсатором, без фрикулинга</a:t>
            </a:r>
            <a:endParaRPr sz="1300" b="0">
              <a:solidFill>
                <a:srgbClr val="5D5870"/>
              </a:solidFill>
              <a:latin typeface="Arial" panose="020B070402020202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2935224"/>
            <a:ext cx="2532888" cy="1883664"/>
          </a:xfrm>
          <a:prstGeom prst="roundRect">
            <a:avLst/>
          </a:prstGeom>
          <a:solidFill>
            <a:srgbClr val="F7F5FB"/>
          </a:solidFill>
          <a:ln w="1778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935224"/>
            <a:ext cx="91440" cy="1883664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044952"/>
            <a:ext cx="220370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152F"/>
                </a:solidFill>
                <a:latin typeface="Arial" panose="020B0704020202020204"/>
              </a:rPr>
              <a:t>Схема 3</a:t>
            </a:r>
            <a:endParaRPr sz="1800" b="1">
              <a:solidFill>
                <a:srgbClr val="21152F"/>
              </a:solidFill>
              <a:latin typeface="Arial" panose="020B070402020202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5800" y="3337560"/>
            <a:ext cx="2148840" cy="1408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5870"/>
                </a:solidFill>
                <a:latin typeface="Arial" panose="020B0704020202020204"/>
              </a:rPr>
              <a:t>чиллер + драйкулер + тепловой аккумулятор холода</a:t>
            </a:r>
            <a:endParaRPr sz="1300" b="0">
              <a:solidFill>
                <a:srgbClr val="5D5870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903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Технический результат: Схема 2 снижает</a:t>
            </a:r>
          </a:p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потребление охлаждения на 43,5%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78992"/>
            <a:ext cx="4069080" cy="25786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nerg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1332542"/>
            <a:ext cx="3803904" cy="189777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09160" y="1078992"/>
            <a:ext cx="3429000" cy="25786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1248047"/>
            <a:ext cx="3145536" cy="20667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6941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Помесячное потребление системы</a:t>
            </a:r>
          </a:p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охлаждения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3730752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0A676"/>
                </a:solidFill>
                <a:latin typeface="Arial"/>
              </a:rPr>
              <a:t>Сравнение годового PUE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096512"/>
            <a:ext cx="150876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4096512"/>
            <a:ext cx="64008" cy="566928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51376"/>
            <a:ext cx="130759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676"/>
                </a:solidFill>
                <a:latin typeface="Arial"/>
              </a:rPr>
              <a:t>1,310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79976"/>
            <a:ext cx="12893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PUE Схемы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4096512"/>
            <a:ext cx="169164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4096512"/>
            <a:ext cx="64008" cy="56692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79" y="4151376"/>
            <a:ext cx="14904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AEEF"/>
                </a:solidFill>
                <a:latin typeface="Arial"/>
              </a:rPr>
              <a:t>-43,5%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4379976"/>
            <a:ext cx="147218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потребление охлаждения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096512"/>
            <a:ext cx="169164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4096512"/>
            <a:ext cx="64008" cy="566928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151376"/>
            <a:ext cx="149047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B2D82"/>
                </a:solidFill>
                <a:latin typeface="Arial"/>
              </a:rPr>
              <a:t>-12,3%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379976"/>
            <a:ext cx="147218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полное потребление ЦОД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096512"/>
            <a:ext cx="1508760" cy="566928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7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096512"/>
            <a:ext cx="64008" cy="566928"/>
          </a:xfrm>
          <a:prstGeom prst="rect">
            <a:avLst/>
          </a:prstGeom>
          <a:solidFill>
            <a:srgbClr val="FF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6"/>
            <a:ext cx="130759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45"/>
                </a:solidFill>
                <a:latin typeface="Arial"/>
              </a:rPr>
              <a:t>1,292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79976"/>
            <a:ext cx="1289304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PUE Схемы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D5870"/>
                </a:solidFill>
                <a:latin typeface="Arial"/>
              </a:rPr>
              <a:t>ВКР Терновой Р.Р. | Университет ИТМО | 09/12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ТЭО: экономический эффект формируется</a:t>
            </a:r>
          </a:p>
          <a:p>
            <a:pPr algn="l">
              <a:spcAft>
                <a:spcPts val="0"/>
              </a:spcAft>
            </a:pPr>
            <a:r>
              <a:rPr sz="2300" b="1">
                <a:solidFill>
                  <a:srgbClr val="21152F"/>
                </a:solidFill>
                <a:latin typeface="Arial"/>
              </a:rPr>
              <a:t>за счет снижения OPEX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78992"/>
            <a:ext cx="2606040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1400828"/>
            <a:ext cx="2386584" cy="1404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36499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5B2D82"/>
                </a:solidFill>
                <a:latin typeface="Arial"/>
              </a:rPr>
              <a:t>CAPEX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078992"/>
            <a:ext cx="2606040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4136" y="1223229"/>
            <a:ext cx="2386584" cy="17597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75887" y="336499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0A676"/>
                </a:solidFill>
                <a:latin typeface="Arial"/>
              </a:rPr>
              <a:t>OPEX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71616" y="1078992"/>
            <a:ext cx="2606040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1343" y="1303198"/>
            <a:ext cx="2386584" cy="1599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83096" y="3364992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0AEEF"/>
                </a:solidFill>
                <a:latin typeface="Arial"/>
              </a:rPr>
              <a:t>Жизненный цикл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31920"/>
            <a:ext cx="1874519" cy="68580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64008" cy="685800"/>
          </a:xfrm>
          <a:prstGeom prst="rect">
            <a:avLst/>
          </a:prstGeom>
          <a:solidFill>
            <a:srgbClr val="5B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86783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B2D82"/>
                </a:solidFill>
                <a:latin typeface="Arial"/>
              </a:rPr>
              <a:t>+13,70 млн руб.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15383"/>
            <a:ext cx="16550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доп. CAPEX Схемы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15184" y="3931920"/>
            <a:ext cx="1874519" cy="68580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15184" y="3931920"/>
            <a:ext cx="64008" cy="685800"/>
          </a:xfrm>
          <a:prstGeom prst="rect">
            <a:avLst/>
          </a:prstGeom>
          <a:solidFill>
            <a:srgbClr val="00A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2344" y="3986783"/>
            <a:ext cx="1673351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A676"/>
                </a:solidFill>
                <a:latin typeface="Arial"/>
              </a:rPr>
              <a:t>12,31 млн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A676"/>
                </a:solidFill>
                <a:latin typeface="Arial"/>
              </a:rPr>
              <a:t>руб./год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2344" y="4215383"/>
            <a:ext cx="16550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экономия OPEX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27448" y="3931920"/>
            <a:ext cx="1600200" cy="68580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3931920"/>
            <a:ext cx="64008" cy="685800"/>
          </a:xfrm>
          <a:prstGeom prst="rect">
            <a:avLst/>
          </a:prstGeom>
          <a:solidFill>
            <a:srgbClr val="FF3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3986783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3F8E"/>
                </a:solidFill>
                <a:latin typeface="Arial"/>
              </a:rPr>
              <a:t>1,35 года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4215383"/>
            <a:ext cx="138074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срок окупаемости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65392" y="3931920"/>
            <a:ext cx="1783080" cy="685800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65392" y="3931920"/>
            <a:ext cx="64008" cy="6858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2552" y="3986783"/>
            <a:ext cx="1581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AEEF"/>
                </a:solidFill>
                <a:latin typeface="Arial"/>
              </a:rPr>
              <a:t>+51,84 млн руб.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2552" y="4215383"/>
            <a:ext cx="15636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5870"/>
                </a:solidFill>
                <a:latin typeface="Arial"/>
              </a:rPr>
              <a:t>NPV за 15 лет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D5870"/>
                </a:solidFill>
                <a:latin typeface="Arial"/>
              </a:rPr>
              <a:t>ВКР Терновой Р.Р. | Университет ИТМО |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21152F"/>
                </a:solidFill>
                <a:latin typeface="Arial"/>
              </a:rP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0A676"/>
                </a:solidFill>
                <a:latin typeface="Arial"/>
              </a:rPr>
              <a:t>Рекомендуемая схема — чиллер + ПТО + драйкулерный</a:t>
            </a:r>
          </a:p>
          <a:p>
            <a:pPr algn="l">
              <a:spcAft>
                <a:spcPts val="0"/>
              </a:spcAft>
            </a:pPr>
            <a:r>
              <a:rPr sz="1800" b="1">
                <a:solidFill>
                  <a:srgbClr val="00A676"/>
                </a:solidFill>
                <a:latin typeface="Arial"/>
              </a:rPr>
              <a:t>фрикулинг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72768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5B2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1664208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5B2D82"/>
                </a:solidFill>
                <a:latin typeface="Arial"/>
              </a:rPr>
              <a:t>Методика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655064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разработан расчетный контур от климатических данных и тепловой нагрузки до PUE, OPEX и N+1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377440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00AEEF"/>
                </a:solidFill>
                <a:latin typeface="Arial"/>
              </a:rPr>
              <a:t>Энергия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368296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для Санкт-Петербурга доступно 5 502 ч/год фрикулинга при MCT = 10°C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00A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090672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00A676"/>
                </a:solidFill>
                <a:latin typeface="Arial"/>
              </a:rPr>
              <a:t>Технический эффект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081528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PUE снижается с 1,494 до 1,310; потребление охлаждения — на 43,5%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12463"/>
            <a:ext cx="7315200" cy="530352"/>
          </a:xfrm>
          <a:prstGeom prst="roundRect">
            <a:avLst/>
          </a:prstGeom>
          <a:solidFill>
            <a:srgbClr val="F7F5FB"/>
          </a:solidFill>
          <a:ln w="15240">
            <a:solidFill>
              <a:srgbClr val="FF3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803903"/>
            <a:ext cx="205740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1">
                <a:solidFill>
                  <a:srgbClr val="FF3F8E"/>
                </a:solidFill>
                <a:latin typeface="Arial"/>
              </a:rPr>
              <a:t>Экономика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794759"/>
            <a:ext cx="46634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21152F"/>
                </a:solidFill>
                <a:latin typeface="Arial"/>
              </a:rPr>
              <a:t>дополнительный CAPEX 13,70 млн руб. окупается за 1,35 года; NPV +51,84 млн руб.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8032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5D5870"/>
                </a:solidFill>
                <a:latin typeface="Arial"/>
              </a:rPr>
              <a:t>ВКР Терновой Р.Р. | Университет ИТМО |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 panose="020B0704020202020204"/>
              </a:rPr>
              <a:t>Спасибо
за внимание!</a:t>
            </a:r>
            <a:endParaRPr lang="en-US"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rial" panose="020B0704020202020204"/>
              </a:rPr>
              <a:t>Терновой Радослав Руславнович
ВКР магистра, Университет ИТМО, 2026</a:t>
            </a:r>
            <a:endParaRPr sz="1200" b="0">
              <a:solidFill>
                <a:srgbClr val="FFFFFF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3249</Words>
  <Application>WPS Presentation</Application>
  <PresentationFormat>Экран (16:9)</PresentationFormat>
  <Paragraphs>268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0" baseType="lpstr">
      <vt:lpstr>Arial</vt:lpstr>
      <vt:lpstr>SimSun</vt:lpstr>
      <vt:lpstr>Wingdings</vt:lpstr>
      <vt:lpstr>ALS Gorizont Bold Expanded</vt:lpstr>
      <vt:lpstr>苹方-简</vt:lpstr>
      <vt:lpstr>Golos Text</vt:lpstr>
      <vt:lpstr>冬青黑体简体中文</vt:lpstr>
      <vt:lpstr>Arial</vt:lpstr>
      <vt:lpstr>Golos Text DemiBold</vt:lpstr>
      <vt:lpstr>Hiragino Sans</vt:lpstr>
      <vt:lpstr>Golos Text</vt:lpstr>
      <vt:lpstr>Calibri</vt:lpstr>
      <vt:lpstr>Helvetica Neue</vt:lpstr>
      <vt:lpstr>Microsoft YaHei</vt:lpstr>
      <vt:lpstr>汉仪旗黑</vt:lpstr>
      <vt:lpstr>Arial Unicode MS</vt:lpstr>
      <vt:lpstr>宋体-简</vt:lpstr>
      <vt:lpstr>Тема1</vt:lpstr>
      <vt:lpstr>Особенности проектирования
хладоцентра для центра обработки данных</vt:lpstr>
      <vt:lpstr>Актуальность: охлаждение — главный резерв снижения PUE и OPEX</vt:lpstr>
      <vt:lpstr>Цель и задачи исследования</vt:lpstr>
      <vt:lpstr>Объект, предмет и научная новизна</vt:lpstr>
      <vt:lpstr>Современные подходы к охлаждению ЦОД</vt:lpstr>
      <vt:lpstr>Климат Санкт-Петербурга дает 5 502 часа фрикулинга в год при MCT = 10°C</vt:lpstr>
      <vt:lpstr>Методика расчета доводит исходные данные до PUE, OPEX и проверки N+1</vt:lpstr>
      <vt:lpstr>Три сравниваемые схемы хладоцентра</vt:lpstr>
      <vt:lpstr>Технический результат: фрикулинг снижает энергопотребление охлаждения на 43,5%</vt:lpstr>
      <vt:lpstr>ТЭО: дополнительный CAPEX Схемы 2 окупается за счет снижения OPEX</vt:lpstr>
      <vt:lpstr>Итоговый выбор: Схема 2 дает лучший баланс эффективности, CAPEX и надежности</vt:lpstr>
      <vt:lpstr>Спасибо
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Антон Иванов</cp:lastModifiedBy>
  <cp:revision>105</cp:revision>
  <dcterms:created xsi:type="dcterms:W3CDTF">2026-05-11T14:12:13Z</dcterms:created>
  <dcterms:modified xsi:type="dcterms:W3CDTF">2026-05-11T14:12:13Z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5F06D4F7582513029BD9016AAD83D841_42</vt:lpwstr>
  </property>
  <property fmtid="{D5CDD505-2E9C-101B-9397-08002B2CF9AE}" pid="3" name="KSOProductBuildVer">
    <vt:lpwstr>1033-12.1.25867.25867</vt:lpwstr>
  </property>
</Properties>
</file>